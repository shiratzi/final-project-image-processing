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distorted</c:v>
                </c:pt>
              </c:strCache>
            </c:strRef>
          </c:tx>
          <c:spPr>
            <a:solidFill>
              <a:srgbClr val="3B82F6"/>
            </a:solidFill>
            <a:ln>
              <a:noFill/>
            </a:ln>
          </c:spPr>
          <c:cat>
            <c:strRef>
              <c:f>Sheet1!$A$2:$A$4</c:f>
              <c:strCache>
                <c:ptCount val="3"/>
                <c:pt idx="0">
                  <c:v>Gaussian noise</c:v>
                </c:pt>
                <c:pt idx="1">
                  <c:v>Salt &amp; pepper</c:v>
                </c:pt>
                <c:pt idx="2">
                  <c:v>Motion blur</c:v>
                </c:pt>
              </c:strCache>
            </c:strRef>
          </c:cat>
          <c:val>
            <c:numRef>
              <c:f>Sheet1!$B$2:$B$4</c:f>
              <c:numCache>
                <c:formatCode>General</c:formatCode>
                <c:ptCount val="3"/>
                <c:pt idx="0">
                  <c:v>0.097</c:v>
                </c:pt>
                <c:pt idx="1">
                  <c:v>0.079</c:v>
                </c:pt>
                <c:pt idx="2">
                  <c:v>0.059</c:v>
                </c:pt>
              </c:numCache>
            </c:numRef>
          </c:val>
        </c:ser>
        <c:ser>
          <c:idx val="1"/>
          <c:order val="1"/>
          <c:tx>
            <c:strRef>
              <c:f>Sheet1!$C$1</c:f>
              <c:strCache>
                <c:ptCount val="1"/>
                <c:pt idx="0">
                  <c:v>enhanced</c:v>
                </c:pt>
              </c:strCache>
            </c:strRef>
          </c:tx>
          <c:spPr>
            <a:solidFill>
              <a:srgbClr val="1FA971"/>
            </a:solidFill>
            <a:ln>
              <a:noFill/>
            </a:ln>
          </c:spPr>
          <c:cat>
            <c:strRef>
              <c:f>Sheet1!$A$2:$A$4</c:f>
              <c:strCache>
                <c:ptCount val="3"/>
                <c:pt idx="0">
                  <c:v>Gaussian noise</c:v>
                </c:pt>
                <c:pt idx="1">
                  <c:v>Salt &amp; pepper</c:v>
                </c:pt>
                <c:pt idx="2">
                  <c:v>Motion blur</c:v>
                </c:pt>
              </c:strCache>
            </c:strRef>
          </c:cat>
          <c:val>
            <c:numRef>
              <c:f>Sheet1!$C$2:$C$4</c:f>
              <c:numCache>
                <c:formatCode>General</c:formatCode>
                <c:ptCount val="3"/>
                <c:pt idx="0">
                  <c:v>0.269</c:v>
                </c:pt>
                <c:pt idx="1">
                  <c:v>0.321</c:v>
                </c:pt>
                <c:pt idx="2">
                  <c:v>0.132</c:v>
                </c:pt>
              </c:numCache>
            </c:numRef>
          </c:val>
        </c:ser>
        <c:ser>
          <c:idx val="2"/>
          <c:order val="2"/>
          <c:tx>
            <c:strRef>
              <c:f>Sheet1!$D$1</c:f>
              <c:strCache>
                <c:ptCount val="1"/>
                <c:pt idx="0">
                  <c:v>fine-tuned</c:v>
                </c:pt>
              </c:strCache>
            </c:strRef>
          </c:tx>
          <c:spPr>
            <a:solidFill>
              <a:srgbClr val="F0A422"/>
            </a:solidFill>
            <a:ln>
              <a:noFill/>
            </a:ln>
          </c:spPr>
          <c:cat>
            <c:strRef>
              <c:f>Sheet1!$A$2:$A$4</c:f>
              <c:strCache>
                <c:ptCount val="3"/>
                <c:pt idx="0">
                  <c:v>Gaussian noise</c:v>
                </c:pt>
                <c:pt idx="1">
                  <c:v>Salt &amp; pepper</c:v>
                </c:pt>
                <c:pt idx="2">
                  <c:v>Motion blur</c:v>
                </c:pt>
              </c:strCache>
            </c:strRef>
          </c:cat>
          <c:val>
            <c:numRef>
              <c:f>Sheet1!$D$2:$D$4</c:f>
              <c:numCache>
                <c:formatCode>General</c:formatCode>
                <c:ptCount val="3"/>
                <c:pt idx="0">
                  <c:v>0.183</c:v>
                </c:pt>
                <c:pt idx="1">
                  <c:v>0.202</c:v>
                </c:pt>
                <c:pt idx="2">
                  <c:v>0.113</c:v>
                </c:pt>
              </c:numCache>
            </c:numRef>
          </c:val>
        </c:ser>
        <c:ser>
          <c:idx val="3"/>
          <c:order val="3"/>
          <c:tx>
            <c:strRef>
              <c:f>Sheet1!$E$1</c:f>
              <c:strCache>
                <c:ptCount val="1"/>
                <c:pt idx="0">
                  <c:v>enhanced + fine-tuned</c:v>
                </c:pt>
              </c:strCache>
            </c:strRef>
          </c:tx>
          <c:spPr>
            <a:solidFill>
              <a:srgbClr val="9B7BF7"/>
            </a:solidFill>
            <a:ln>
              <a:noFill/>
            </a:ln>
          </c:spPr>
          <c:cat>
            <c:strRef>
              <c:f>Sheet1!$A$2:$A$4</c:f>
              <c:strCache>
                <c:ptCount val="3"/>
                <c:pt idx="0">
                  <c:v>Gaussian noise</c:v>
                </c:pt>
                <c:pt idx="1">
                  <c:v>Salt &amp; pepper</c:v>
                </c:pt>
                <c:pt idx="2">
                  <c:v>Motion blur</c:v>
                </c:pt>
              </c:strCache>
            </c:strRef>
          </c:cat>
          <c:val>
            <c:numRef>
              <c:f>Sheet1!$E$2:$E$4</c:f>
              <c:numCache>
                <c:formatCode>General</c:formatCode>
                <c:ptCount val="3"/>
                <c:pt idx="0">
                  <c:v>0.246</c:v>
                </c:pt>
                <c:pt idx="1">
                  <c:v>0.288</c:v>
                </c:pt>
                <c:pt idx="2">
                  <c:v>0.189</c:v>
                </c:pt>
              </c:numCache>
            </c:numRef>
          </c:val>
        </c:ser>
        <c:dLbls>
          <c:numFmt formatCode="0.000" sourceLinked="0"/>
          <c:txPr>
            <a:bodyPr/>
            <a:lstStyle/>
            <a:p>
              <a:pPr>
                <a:defRPr sz="800">
                  <a:solidFill>
                    <a:srgbClr val="1F2937"/>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4A3B8"/>
            </a:solidFill>
          </a:ln>
        </c:spPr>
        <c:txPr>
          <a:bodyPr/>
          <a:lstStyle/>
          <a:p>
            <a:pPr>
              <a:defRPr sz="1150">
                <a:solidFill>
                  <a:srgbClr val="1F2937"/>
                </a:solidFill>
                <a:latin typeface="Arial"/>
              </a:defRPr>
            </a:pPr>
          </a:p>
        </c:txPr>
        <c:crossAx val="-2113994440"/>
        <c:crosses val="autoZero"/>
        <c:auto val="1"/>
        <c:lblAlgn val="ctr"/>
        <c:lblOffset val="100"/>
        <c:noMultiLvlLbl val="0"/>
      </c:catAx>
      <c:valAx>
        <c:axId val="-2113994440"/>
        <c:scaling>
          <c:max val="0.36"/>
          <c:min val="0.0"/>
        </c:scaling>
        <c:delete val="0"/>
        <c:axPos val="l"/>
        <c:majorGridlines>
          <c:spPr>
            <a:ln w="6350">
              <a:solidFill>
                <a:srgbClr val="E2E8F0"/>
              </a:solidFill>
            </a:ln>
          </c:spPr>
        </c:majorGridlines>
        <c:majorTickMark val="out"/>
        <c:minorTickMark val="none"/>
        <c:tickLblPos val="nextTo"/>
        <c:spPr>
          <a:ln>
            <a:noFill/>
          </a:ln>
        </c:spPr>
        <c:txPr>
          <a:bodyPr/>
          <a:lstStyle/>
          <a:p>
            <a:pPr>
              <a:defRPr sz="900">
                <a:solidFill>
                  <a:srgbClr val="6B7280"/>
                </a:solidFill>
                <a:latin typeface="Arial"/>
              </a:defRPr>
            </a:pPr>
          </a:p>
        </c:txPr>
        <c:crossAx val="-2068027336"/>
        <c:crosses val="autoZero"/>
      </c:valAx>
    </c:plotArea>
    <c:legend>
      <c:legendPos val="b"/>
      <c:overlay val="0"/>
      <c:txPr>
        <a:bodyPr/>
        <a:lstStyle/>
        <a:p>
          <a:pPr>
            <a:defRPr sz="1000">
              <a:solidFill>
                <a:srgbClr val="374151"/>
              </a:solidFill>
              <a:latin typeface="Arial"/>
            </a:defRPr>
          </a:pPr>
        </a:p>
      </c:txPr>
    </c:legend>
    <c:dispBlanksAs val="gap"/>
  </c:chart>
  <c:txPr>
    <a:bodyPr/>
    <a:lstStyle/>
    <a:p>
      <a:pPr>
        <a:defRPr sz="1000">
          <a:solidFill>
            <a:srgbClr val="1F2937"/>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 how robust four vision pipelines are to controlled image corruption, on a fixed COCO val2017 subset. The design crosses 4 tasks with 3 corruptions at 3 severities, and tests two repairs: matched classical enhancement and YOLOv8n fine-tuning. Everything is paired — same images and ground truth in every cell.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experiment starts from the same 1,521 images: they are corrupted, optionally restored, and each variant goes through identical inference and evaluation. A separate 9,000-image train2017 subset feeds YOLOv8n fine-tuning, which is evaluated on the same cells for detection. Logged SNR and degradation parameters are what make matched, non-blind restoration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subset is a fixed, seeded 1,521-image sample of COCO val2017, topped up so every class has enough instances for per-class analysis. Its class distribution correlates with the full split at r = 0.999. All comparisons are paired, and a separate 9,000-image train2017 subset is used only for fine-tuning.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feature matching is the low-level probe: it asks whether corner-like local structure survives corruption. The three deep models cover detection, human keypoints and panoptic segmentation, each with its standard COCO metric. PQ usefully decomposes into mask quality and recognition quality, which we use for diagnosis.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corruption models a different physical process, and each gets the classical restoration that matches its forward model: BM3D for Gaussian noise, a 3-by-3 median for impulse noise, Wiener deconvolution with the reconstructed kernel for blur. Note that motion blur has the highest SNR of the three at comparable severity — that will matter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 baselines anchor every later comparison. ORB is 1.0 by construction; the three learned models land within about two metric points of their published full-val2017 scores. Because the image sets differ, we treat that only as an approximate sanity check that the pipeline is sound.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panel is one task; each bar group is one corruption-severity cell. Blue is the distorted score, green after matched enhancement, amber after fine-tuning for detection, and the dashed line is the clean baseline. The headline: enhancement improves every one of the 36 cells, and for detection it is the strongest standalone repair in all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panel per corruption; x is measured per-image SNR, so severity increases right to left. Curves fall monotonically within each corruption family. But comparing across families, high motion blur damages ORB and keypoints far more than the noise corruptions despite its higher SNR — structure loss, not SNR, is what hurts geometry-sensitive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 baseline varies widely across the 80 classes. The bottom charts track the 15 strongest classes under high-severity corruption: salt and pepper collapses nearly all of them and the median filter restores most of the gap, while under motion blur both repairs recover far less. Instance counts are shown so rare classes are read with care.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row: the same scene through the detection pipeline — the blurred frame loses most cars, the Wiener-restored frame recovers them, and the fine-tuned detector finds some directly on the blurred input. Bottom row: keypoints under heavy Gaussian noise drift off the body and BM3D pulls them back. These examples are drawn from the benchmark subset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high salt-and-pepper the panoptic prediction disintegrates into false segments, and the median filter restores most of the layout — PQ goes from 0.105 back to 0.348 on this cell. In the ORB pairs, heavy blur leaves few good matches and Wiener deconvolution multiplies them. Spatial structure is the currency both tasks trade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high severity, matched enhancement is the strongest single repair for every corruption, and fine-tuning alone always trails it. The two are complementary: stacked, they set the best score on medium and high motion blur, recovering 44.5 percent of the high-blur damage. Fine-tuning also costs about four mAP points on clean images.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values are measured: averaged over the three corruptions, fine-tuning recovery grows from slightly negative at low severity to plus 0.088 mAP at high severity. The explanation on the right is our interpretation — a domain-gap account consistent with the reduced clean accuracy and with the motion-blur plateau, where missing spatial information cannot be learned 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matrix is the practical output: restore classically when the corruption is known and parameterizable, stack restoration with fine-tuning for heavy partially-irreversible corruptions like motion blur, and rely on model adaptation when the corruption is unknown at inference time. The limitations box bounds the claims — everything here is synthetic, global, and non-blind.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comparison table: SNR, clean, distorted, enhanced, fine-tuned and stacked scores with degradation and recovery per cell. Bold marks recoveries of at least 0.04. This is the source for every number quoted in the main slides.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keypoint and segmentation SNR curves complete the picture from slide 8, and the Gaussian-noise per-class chart completes slide 9. Both show the same qualitative story as the figures in the main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749808"/>
            <a:ext cx="10972800" cy="292608"/>
          </a:xfrm>
          <a:prstGeom prst="rect">
            <a:avLst/>
          </a:prstGeom>
          <a:noFill/>
        </p:spPr>
        <p:txBody>
          <a:bodyPr wrap="square" lIns="0" rIns="0" tIns="0" bIns="0" anchor="t">
            <a:spAutoFit/>
          </a:bodyPr>
          <a:lstStyle/>
          <a:p>
            <a:pPr algn="l">
              <a:lnSpc>
                <a:spcPct val="106000"/>
              </a:lnSpc>
              <a:buNone/>
            </a:pPr>
            <a:r>
              <a:rPr sz="1200" b="1" i="0" spc="300">
                <a:solidFill>
                  <a:srgbClr val="3EC5FF"/>
                </a:solidFill>
                <a:latin typeface="Arial"/>
              </a:rPr>
              <a:t>IMAGE PROCESSING &amp; COMPUTER VISION  ·  FINAL PROJECT</a:t>
            </a:r>
          </a:p>
        </p:txBody>
      </p:sp>
      <p:sp>
        <p:nvSpPr>
          <p:cNvPr id="3" name="TextBox 2"/>
          <p:cNvSpPr txBox="1"/>
          <p:nvPr/>
        </p:nvSpPr>
        <p:spPr>
          <a:xfrm>
            <a:off x="548640" y="1115568"/>
            <a:ext cx="11109960" cy="1371600"/>
          </a:xfrm>
          <a:prstGeom prst="rect">
            <a:avLst/>
          </a:prstGeom>
          <a:noFill/>
        </p:spPr>
        <p:txBody>
          <a:bodyPr wrap="square" lIns="0" rIns="0" tIns="0" bIns="0" anchor="t">
            <a:spAutoFit/>
          </a:bodyPr>
          <a:lstStyle/>
          <a:p>
            <a:pPr algn="l">
              <a:lnSpc>
                <a:spcPct val="103000"/>
              </a:lnSpc>
              <a:buNone/>
            </a:pPr>
            <a:r>
              <a:rPr sz="3600" b="1" i="0">
                <a:solidFill>
                  <a:srgbClr val="EAF1FA"/>
                </a:solidFill>
                <a:latin typeface="Arial"/>
              </a:rPr>
              <a:t>Robustness of Image-Processing and Vision Methods to Image Corruption</a:t>
            </a:r>
          </a:p>
        </p:txBody>
      </p:sp>
      <p:sp>
        <p:nvSpPr>
          <p:cNvPr id="4" name="TextBox 3"/>
          <p:cNvSpPr txBox="1"/>
          <p:nvPr/>
        </p:nvSpPr>
        <p:spPr>
          <a:xfrm>
            <a:off x="548640" y="2615184"/>
            <a:ext cx="10607040" cy="603504"/>
          </a:xfrm>
          <a:prstGeom prst="rect">
            <a:avLst/>
          </a:prstGeom>
          <a:noFill/>
        </p:spPr>
        <p:txBody>
          <a:bodyPr wrap="square" lIns="0" rIns="0" tIns="0" bIns="0" anchor="t">
            <a:spAutoFit/>
          </a:bodyPr>
          <a:lstStyle/>
          <a:p>
            <a:pPr algn="l">
              <a:lnSpc>
                <a:spcPct val="106000"/>
              </a:lnSpc>
              <a:buNone/>
            </a:pPr>
            <a:r>
              <a:rPr sz="1450" b="0" i="1">
                <a:solidFill>
                  <a:srgbClr val="9DAFC8"/>
                </a:solidFill>
                <a:latin typeface="Arial"/>
              </a:rPr>
              <a:t>How much do corrupted images hurt four vision tasks — and how much of the damage can classical restoration and model fine-tuning undo?</a:t>
            </a:r>
          </a:p>
        </p:txBody>
      </p:sp>
      <p:sp>
        <p:nvSpPr>
          <p:cNvPr id="5" name="Rounded Rectangle 4"/>
          <p:cNvSpPr/>
          <p:nvPr/>
        </p:nvSpPr>
        <p:spPr>
          <a:xfrm>
            <a:off x="548640" y="3529584"/>
            <a:ext cx="267919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529584"/>
            <a:ext cx="658368" cy="1005840"/>
          </a:xfrm>
          <a:prstGeom prst="rect">
            <a:avLst/>
          </a:prstGeom>
          <a:noFill/>
        </p:spPr>
        <p:txBody>
          <a:bodyPr wrap="square" lIns="0" rIns="0" tIns="0" bIns="0" anchor="ctr">
            <a:spAutoFit/>
          </a:bodyPr>
          <a:lstStyle/>
          <a:p>
            <a:pPr algn="l">
              <a:lnSpc>
                <a:spcPct val="106000"/>
              </a:lnSpc>
              <a:buNone/>
            </a:pPr>
            <a:r>
              <a:rPr sz="3000" b="1" i="0">
                <a:solidFill>
                  <a:srgbClr val="3EC5FF"/>
                </a:solidFill>
                <a:latin typeface="Arial"/>
              </a:rPr>
              <a:t>4</a:t>
            </a:r>
          </a:p>
        </p:txBody>
      </p:sp>
      <p:sp>
        <p:nvSpPr>
          <p:cNvPr id="7" name="TextBox 6"/>
          <p:cNvSpPr txBox="1"/>
          <p:nvPr/>
        </p:nvSpPr>
        <p:spPr>
          <a:xfrm>
            <a:off x="1389888" y="3529584"/>
            <a:ext cx="1783080" cy="1005840"/>
          </a:xfrm>
          <a:prstGeom prst="rect">
            <a:avLst/>
          </a:prstGeom>
          <a:noFill/>
        </p:spPr>
        <p:txBody>
          <a:bodyPr wrap="square" lIns="0" rIns="0" tIns="0" bIns="0" anchor="ctr">
            <a:spAutoFit/>
          </a:bodyPr>
          <a:lstStyle/>
          <a:p>
            <a:pPr algn="l">
              <a:lnSpc>
                <a:spcPct val="108000"/>
              </a:lnSpc>
              <a:spcAft>
                <a:spcPts val="200"/>
              </a:spcAft>
              <a:buNone/>
            </a:pPr>
            <a:r>
              <a:rPr sz="1050" b="1" i="0">
                <a:solidFill>
                  <a:srgbClr val="EAF1FA"/>
                </a:solidFill>
                <a:latin typeface="Arial"/>
              </a:rPr>
              <a:t>vision tasks</a:t>
            </a:r>
          </a:p>
          <a:p>
            <a:pPr algn="l">
              <a:lnSpc>
                <a:spcPct val="108000"/>
              </a:lnSpc>
              <a:buNone/>
            </a:pPr>
            <a:r>
              <a:rPr sz="950" b="0" i="0">
                <a:solidFill>
                  <a:srgbClr val="9DAFC8"/>
                </a:solidFill>
                <a:latin typeface="Arial"/>
              </a:rPr>
              <a:t>low-level + deep models</a:t>
            </a:r>
          </a:p>
        </p:txBody>
      </p:sp>
      <p:sp>
        <p:nvSpPr>
          <p:cNvPr id="8" name="Rounded Rectangle 7"/>
          <p:cNvSpPr/>
          <p:nvPr/>
        </p:nvSpPr>
        <p:spPr>
          <a:xfrm>
            <a:off x="3410712" y="3529584"/>
            <a:ext cx="267919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57016" y="3529584"/>
            <a:ext cx="658368" cy="1005840"/>
          </a:xfrm>
          <a:prstGeom prst="rect">
            <a:avLst/>
          </a:prstGeom>
          <a:noFill/>
        </p:spPr>
        <p:txBody>
          <a:bodyPr wrap="square" lIns="0" rIns="0" tIns="0" bIns="0" anchor="ctr">
            <a:spAutoFit/>
          </a:bodyPr>
          <a:lstStyle/>
          <a:p>
            <a:pPr algn="l">
              <a:lnSpc>
                <a:spcPct val="106000"/>
              </a:lnSpc>
              <a:buNone/>
            </a:pPr>
            <a:r>
              <a:rPr sz="3000" b="1" i="0">
                <a:solidFill>
                  <a:srgbClr val="3EC5FF"/>
                </a:solidFill>
                <a:latin typeface="Arial"/>
              </a:rPr>
              <a:t>3</a:t>
            </a:r>
          </a:p>
        </p:txBody>
      </p:sp>
      <p:sp>
        <p:nvSpPr>
          <p:cNvPr id="10" name="TextBox 9"/>
          <p:cNvSpPr txBox="1"/>
          <p:nvPr/>
        </p:nvSpPr>
        <p:spPr>
          <a:xfrm>
            <a:off x="4251960" y="3529584"/>
            <a:ext cx="1783080" cy="1005840"/>
          </a:xfrm>
          <a:prstGeom prst="rect">
            <a:avLst/>
          </a:prstGeom>
          <a:noFill/>
        </p:spPr>
        <p:txBody>
          <a:bodyPr wrap="square" lIns="0" rIns="0" tIns="0" bIns="0" anchor="ctr">
            <a:spAutoFit/>
          </a:bodyPr>
          <a:lstStyle/>
          <a:p>
            <a:pPr algn="l">
              <a:lnSpc>
                <a:spcPct val="108000"/>
              </a:lnSpc>
              <a:spcAft>
                <a:spcPts val="200"/>
              </a:spcAft>
              <a:buNone/>
            </a:pPr>
            <a:r>
              <a:rPr sz="1050" b="1" i="0">
                <a:solidFill>
                  <a:srgbClr val="EAF1FA"/>
                </a:solidFill>
                <a:latin typeface="Arial"/>
              </a:rPr>
              <a:t>corruption types</a:t>
            </a:r>
          </a:p>
          <a:p>
            <a:pPr algn="l">
              <a:lnSpc>
                <a:spcPct val="108000"/>
              </a:lnSpc>
              <a:buNone/>
            </a:pPr>
            <a:r>
              <a:rPr sz="950" b="0" i="0">
                <a:solidFill>
                  <a:srgbClr val="9DAFC8"/>
                </a:solidFill>
                <a:latin typeface="Arial"/>
              </a:rPr>
              <a:t>noise × 2, motion blur</a:t>
            </a:r>
          </a:p>
        </p:txBody>
      </p:sp>
      <p:sp>
        <p:nvSpPr>
          <p:cNvPr id="11" name="Rounded Rectangle 10"/>
          <p:cNvSpPr/>
          <p:nvPr/>
        </p:nvSpPr>
        <p:spPr>
          <a:xfrm>
            <a:off x="6272783" y="3529584"/>
            <a:ext cx="267919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3529584"/>
            <a:ext cx="658368" cy="1005840"/>
          </a:xfrm>
          <a:prstGeom prst="rect">
            <a:avLst/>
          </a:prstGeom>
          <a:noFill/>
        </p:spPr>
        <p:txBody>
          <a:bodyPr wrap="square" lIns="0" rIns="0" tIns="0" bIns="0" anchor="ctr">
            <a:spAutoFit/>
          </a:bodyPr>
          <a:lstStyle/>
          <a:p>
            <a:pPr algn="l">
              <a:lnSpc>
                <a:spcPct val="106000"/>
              </a:lnSpc>
              <a:buNone/>
            </a:pPr>
            <a:r>
              <a:rPr sz="3000" b="1" i="0">
                <a:solidFill>
                  <a:srgbClr val="3EC5FF"/>
                </a:solidFill>
                <a:latin typeface="Arial"/>
              </a:rPr>
              <a:t>3</a:t>
            </a:r>
          </a:p>
        </p:txBody>
      </p:sp>
      <p:sp>
        <p:nvSpPr>
          <p:cNvPr id="13" name="TextBox 12"/>
          <p:cNvSpPr txBox="1"/>
          <p:nvPr/>
        </p:nvSpPr>
        <p:spPr>
          <a:xfrm>
            <a:off x="7114031" y="3529584"/>
            <a:ext cx="1783080" cy="1005840"/>
          </a:xfrm>
          <a:prstGeom prst="rect">
            <a:avLst/>
          </a:prstGeom>
          <a:noFill/>
        </p:spPr>
        <p:txBody>
          <a:bodyPr wrap="square" lIns="0" rIns="0" tIns="0" bIns="0" anchor="ctr">
            <a:spAutoFit/>
          </a:bodyPr>
          <a:lstStyle/>
          <a:p>
            <a:pPr algn="l">
              <a:lnSpc>
                <a:spcPct val="108000"/>
              </a:lnSpc>
              <a:spcAft>
                <a:spcPts val="200"/>
              </a:spcAft>
              <a:buNone/>
            </a:pPr>
            <a:r>
              <a:rPr sz="1050" b="1" i="0">
                <a:solidFill>
                  <a:srgbClr val="EAF1FA"/>
                </a:solidFill>
                <a:latin typeface="Arial"/>
              </a:rPr>
              <a:t>severity levels</a:t>
            </a:r>
          </a:p>
          <a:p>
            <a:pPr algn="l">
              <a:lnSpc>
                <a:spcPct val="108000"/>
              </a:lnSpc>
              <a:buNone/>
            </a:pPr>
            <a:r>
              <a:rPr sz="950" b="0" i="0">
                <a:solidFill>
                  <a:srgbClr val="9DAFC8"/>
                </a:solidFill>
                <a:latin typeface="Arial"/>
              </a:rPr>
              <a:t>SNR logged per image</a:t>
            </a:r>
          </a:p>
        </p:txBody>
      </p:sp>
      <p:sp>
        <p:nvSpPr>
          <p:cNvPr id="14" name="Rounded Rectangle 13"/>
          <p:cNvSpPr/>
          <p:nvPr/>
        </p:nvSpPr>
        <p:spPr>
          <a:xfrm>
            <a:off x="9134856" y="3529584"/>
            <a:ext cx="267919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3529584"/>
            <a:ext cx="658368" cy="1005840"/>
          </a:xfrm>
          <a:prstGeom prst="rect">
            <a:avLst/>
          </a:prstGeom>
          <a:noFill/>
        </p:spPr>
        <p:txBody>
          <a:bodyPr wrap="square" lIns="0" rIns="0" tIns="0" bIns="0" anchor="ctr">
            <a:spAutoFit/>
          </a:bodyPr>
          <a:lstStyle/>
          <a:p>
            <a:pPr algn="l">
              <a:lnSpc>
                <a:spcPct val="106000"/>
              </a:lnSpc>
              <a:buNone/>
            </a:pPr>
            <a:r>
              <a:rPr sz="3000" b="1" i="0">
                <a:solidFill>
                  <a:srgbClr val="3EC5FF"/>
                </a:solidFill>
                <a:latin typeface="Arial"/>
              </a:rPr>
              <a:t>2</a:t>
            </a:r>
          </a:p>
        </p:txBody>
      </p:sp>
      <p:sp>
        <p:nvSpPr>
          <p:cNvPr id="16" name="TextBox 15"/>
          <p:cNvSpPr txBox="1"/>
          <p:nvPr/>
        </p:nvSpPr>
        <p:spPr>
          <a:xfrm>
            <a:off x="9976104" y="3529584"/>
            <a:ext cx="1783080" cy="1005840"/>
          </a:xfrm>
          <a:prstGeom prst="rect">
            <a:avLst/>
          </a:prstGeom>
          <a:noFill/>
        </p:spPr>
        <p:txBody>
          <a:bodyPr wrap="square" lIns="0" rIns="0" tIns="0" bIns="0" anchor="ctr">
            <a:spAutoFit/>
          </a:bodyPr>
          <a:lstStyle/>
          <a:p>
            <a:pPr algn="l">
              <a:lnSpc>
                <a:spcPct val="108000"/>
              </a:lnSpc>
              <a:spcAft>
                <a:spcPts val="200"/>
              </a:spcAft>
              <a:buNone/>
            </a:pPr>
            <a:r>
              <a:rPr sz="1050" b="1" i="0">
                <a:solidFill>
                  <a:srgbClr val="EAF1FA"/>
                </a:solidFill>
                <a:latin typeface="Arial"/>
              </a:rPr>
              <a:t>recovery strategies</a:t>
            </a:r>
          </a:p>
          <a:p>
            <a:pPr algn="l">
              <a:lnSpc>
                <a:spcPct val="108000"/>
              </a:lnSpc>
              <a:buNone/>
            </a:pPr>
            <a:r>
              <a:rPr sz="950" b="0" i="0">
                <a:solidFill>
                  <a:srgbClr val="9DAFC8"/>
                </a:solidFill>
                <a:latin typeface="Arial"/>
              </a:rPr>
              <a:t>enhance · fine-tune</a:t>
            </a:r>
          </a:p>
        </p:txBody>
      </p:sp>
      <p:sp>
        <p:nvSpPr>
          <p:cNvPr id="17" name="TextBox 16"/>
          <p:cNvSpPr txBox="1"/>
          <p:nvPr/>
        </p:nvSpPr>
        <p:spPr>
          <a:xfrm>
            <a:off x="548640" y="5074920"/>
            <a:ext cx="4480560" cy="1280160"/>
          </a:xfrm>
          <a:prstGeom prst="rect">
            <a:avLst/>
          </a:prstGeom>
          <a:noFill/>
        </p:spPr>
        <p:txBody>
          <a:bodyPr wrap="square" lIns="0" rIns="0" tIns="0" bIns="0" anchor="t">
            <a:spAutoFit/>
          </a:bodyPr>
          <a:lstStyle/>
          <a:p>
            <a:pPr algn="l">
              <a:lnSpc>
                <a:spcPct val="106000"/>
              </a:lnSpc>
              <a:spcAft>
                <a:spcPts val="600"/>
              </a:spcAft>
              <a:buNone/>
            </a:pPr>
            <a:r>
              <a:rPr sz="1400" b="1" i="0">
                <a:solidFill>
                  <a:srgbClr val="EAF1FA"/>
                </a:solidFill>
                <a:latin typeface="Arial"/>
              </a:rPr>
              <a:t>Ohad Shpizhizen   ·   Shira Tziony</a:t>
            </a:r>
          </a:p>
          <a:p>
            <a:pPr algn="l">
              <a:lnSpc>
                <a:spcPct val="106000"/>
              </a:lnSpc>
              <a:spcAft>
                <a:spcPts val="200"/>
              </a:spcAft>
              <a:buNone/>
            </a:pPr>
            <a:r>
              <a:rPr sz="1100" b="0" i="0">
                <a:solidFill>
                  <a:srgbClr val="9DAFC8"/>
                </a:solidFill>
                <a:latin typeface="Arial"/>
              </a:rPr>
              <a:t>COCO val2017 — fixed 1,521-image evaluation subset</a:t>
            </a:r>
          </a:p>
          <a:p>
            <a:pPr algn="l">
              <a:lnSpc>
                <a:spcPct val="106000"/>
              </a:lnSpc>
              <a:buNone/>
            </a:pPr>
            <a:r>
              <a:rPr sz="1100" b="0" i="0">
                <a:solidFill>
                  <a:srgbClr val="9DAFC8"/>
                </a:solidFill>
                <a:latin typeface="Arial"/>
              </a:rPr>
              <a:t>Paired comparisons: identical images &amp; GT in every cell</a:t>
            </a:r>
          </a:p>
        </p:txBody>
      </p:sp>
      <p:sp>
        <p:nvSpPr>
          <p:cNvPr id="18" name="Rounded Rectangle 17"/>
          <p:cNvSpPr/>
          <p:nvPr/>
        </p:nvSpPr>
        <p:spPr>
          <a:xfrm>
            <a:off x="5385816" y="4946904"/>
            <a:ext cx="6355080" cy="1435607"/>
          </a:xfrm>
          <a:prstGeom prst="roundRect">
            <a:avLst>
              <a:gd name="adj" fmla="val 4458"/>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trip_sp_4.png"/>
          <p:cNvPicPr>
            <a:picLocks noChangeAspect="1"/>
          </p:cNvPicPr>
          <p:nvPr/>
        </p:nvPicPr>
        <p:blipFill>
          <a:blip r:embed="rId2"/>
          <a:stretch>
            <a:fillRect/>
          </a:stretch>
        </p:blipFill>
        <p:spPr>
          <a:xfrm>
            <a:off x="5440680" y="5001768"/>
            <a:ext cx="6245352" cy="1325880"/>
          </a:xfrm>
          <a:prstGeom prst="rect">
            <a:avLst/>
          </a:prstGeom>
        </p:spPr>
      </p:pic>
      <p:sp>
        <p:nvSpPr>
          <p:cNvPr id="20" name="TextBox 19"/>
          <p:cNvSpPr txBox="1"/>
          <p:nvPr/>
        </p:nvSpPr>
        <p:spPr>
          <a:xfrm>
            <a:off x="5440680" y="6400800"/>
            <a:ext cx="6245352" cy="219456"/>
          </a:xfrm>
          <a:prstGeom prst="rect">
            <a:avLst/>
          </a:prstGeom>
          <a:noFill/>
        </p:spPr>
        <p:txBody>
          <a:bodyPr wrap="square" lIns="0" rIns="0" tIns="0" bIns="0" anchor="t">
            <a:spAutoFit/>
          </a:bodyPr>
          <a:lstStyle/>
          <a:p>
            <a:pPr algn="ctr">
              <a:lnSpc>
                <a:spcPct val="106000"/>
              </a:lnSpc>
              <a:buNone/>
            </a:pPr>
            <a:r>
              <a:rPr sz="950" b="0" i="0">
                <a:solidFill>
                  <a:srgbClr val="6B7E9B"/>
                </a:solidFill>
                <a:latin typeface="Arial"/>
              </a:rPr>
              <a:t>clean  →  corrupted (salt &amp; pepper, high)  →  restored (median 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EXPERIMENTAL DESIGN</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One fixed image set — every variant measured against it</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2 / 14</a:t>
            </a:r>
          </a:p>
        </p:txBody>
      </p:sp>
      <p:sp>
        <p:nvSpPr>
          <p:cNvPr id="5" name="Rounded Rectangle 4"/>
          <p:cNvSpPr/>
          <p:nvPr/>
        </p:nvSpPr>
        <p:spPr>
          <a:xfrm>
            <a:off x="502920" y="2286000"/>
            <a:ext cx="1920240" cy="1188720"/>
          </a:xfrm>
          <a:prstGeom prst="roundRect">
            <a:avLst>
              <a:gd name="adj" fmla="val 5384"/>
            </a:avLst>
          </a:prstGeom>
          <a:solidFill>
            <a:srgbClr val="121C2F"/>
          </a:solidFill>
          <a:ln w="9525">
            <a:solidFill>
              <a:srgbClr val="3EC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2286000"/>
            <a:ext cx="1700784" cy="1188720"/>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COCO val2017</a:t>
            </a:r>
          </a:p>
          <a:p>
            <a:pPr algn="l">
              <a:lnSpc>
                <a:spcPct val="105000"/>
              </a:lnSpc>
              <a:buNone/>
            </a:pPr>
            <a:r>
              <a:rPr sz="950" b="0" i="0">
                <a:solidFill>
                  <a:srgbClr val="9DAFC8"/>
                </a:solidFill>
                <a:latin typeface="Arial"/>
              </a:rPr>
              <a:t>fixed seeded subset
1,521 images</a:t>
            </a:r>
          </a:p>
        </p:txBody>
      </p:sp>
      <p:cxnSp>
        <p:nvCxnSpPr>
          <p:cNvPr id="7" name="Connector 6"/>
          <p:cNvCxnSpPr/>
          <p:nvPr/>
        </p:nvCxnSpPr>
        <p:spPr>
          <a:xfrm>
            <a:off x="2423160" y="2880360"/>
            <a:ext cx="365760" cy="0"/>
          </a:xfrm>
          <a:prstGeom prst="line">
            <a:avLst/>
          </a:prstGeom>
          <a:ln w="19050">
            <a:solidFill>
              <a:srgbClr val="6B7E9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88920" y="1810512"/>
            <a:ext cx="0" cy="2139696"/>
          </a:xfrm>
          <a:prstGeom prst="line">
            <a:avLst/>
          </a:prstGeom>
          <a:ln w="19050">
            <a:solidFill>
              <a:srgbClr val="6B7E9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88920" y="1810512"/>
            <a:ext cx="301752" cy="0"/>
          </a:xfrm>
          <a:prstGeom prst="line">
            <a:avLst/>
          </a:prstGeom>
          <a:ln w="19050">
            <a:solidFill>
              <a:srgbClr val="6B7E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788920" y="2880360"/>
            <a:ext cx="301752" cy="0"/>
          </a:xfrm>
          <a:prstGeom prst="line">
            <a:avLst/>
          </a:prstGeom>
          <a:ln w="19050">
            <a:solidFill>
              <a:srgbClr val="6B7E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788920" y="3950208"/>
            <a:ext cx="301752" cy="0"/>
          </a:xfrm>
          <a:prstGeom prst="line">
            <a:avLst/>
          </a:prstGeom>
          <a:ln w="19050">
            <a:solidFill>
              <a:srgbClr val="6B7E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090672" y="1481328"/>
            <a:ext cx="3154680" cy="658368"/>
          </a:xfrm>
          <a:prstGeom prst="roundRect">
            <a:avLst>
              <a:gd name="adj" fmla="val 9000"/>
            </a:avLst>
          </a:prstGeom>
          <a:solidFill>
            <a:srgbClr val="121C2F"/>
          </a:solidFill>
          <a:ln w="9525">
            <a:solidFill>
              <a:srgbClr val="9AA7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1481328"/>
            <a:ext cx="2935224" cy="658368"/>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Clean</a:t>
            </a:r>
          </a:p>
        </p:txBody>
      </p:sp>
      <p:sp>
        <p:nvSpPr>
          <p:cNvPr id="14" name="Rounded Rectangle 13"/>
          <p:cNvSpPr/>
          <p:nvPr/>
        </p:nvSpPr>
        <p:spPr>
          <a:xfrm>
            <a:off x="3090672" y="2551176"/>
            <a:ext cx="3154680" cy="658368"/>
          </a:xfrm>
          <a:prstGeom prst="roundRect">
            <a:avLst>
              <a:gd name="adj" fmla="val 9000"/>
            </a:avLst>
          </a:prstGeom>
          <a:solidFill>
            <a:srgbClr val="121C2F"/>
          </a:solidFill>
          <a:ln w="952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2551176"/>
            <a:ext cx="2935224" cy="658368"/>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Distorted — 3 corruptions × 3 severities</a:t>
            </a:r>
          </a:p>
        </p:txBody>
      </p:sp>
      <p:sp>
        <p:nvSpPr>
          <p:cNvPr id="16" name="Rounded Rectangle 15"/>
          <p:cNvSpPr/>
          <p:nvPr/>
        </p:nvSpPr>
        <p:spPr>
          <a:xfrm>
            <a:off x="3090672" y="3621024"/>
            <a:ext cx="3154680" cy="658368"/>
          </a:xfrm>
          <a:prstGeom prst="roundRect">
            <a:avLst>
              <a:gd name="adj" fmla="val 9000"/>
            </a:avLst>
          </a:prstGeom>
          <a:solidFill>
            <a:srgbClr val="121C2F"/>
          </a:solidFill>
          <a:ln w="9525">
            <a:solidFill>
              <a:srgbClr val="1FA9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3621024"/>
            <a:ext cx="2935224" cy="658368"/>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Distorted → matched enhancement</a:t>
            </a:r>
          </a:p>
        </p:txBody>
      </p:sp>
      <p:cxnSp>
        <p:nvCxnSpPr>
          <p:cNvPr id="18" name="Connector 17"/>
          <p:cNvCxnSpPr/>
          <p:nvPr/>
        </p:nvCxnSpPr>
        <p:spPr>
          <a:xfrm>
            <a:off x="6245352" y="1810512"/>
            <a:ext cx="292608" cy="0"/>
          </a:xfrm>
          <a:prstGeom prst="line">
            <a:avLst/>
          </a:prstGeom>
          <a:ln w="19050">
            <a:solidFill>
              <a:srgbClr val="6B7E9B"/>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45352" y="2880360"/>
            <a:ext cx="292608" cy="0"/>
          </a:xfrm>
          <a:prstGeom prst="line">
            <a:avLst/>
          </a:prstGeom>
          <a:ln w="19050">
            <a:solidFill>
              <a:srgbClr val="6B7E9B"/>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45352" y="3950208"/>
            <a:ext cx="292608" cy="0"/>
          </a:xfrm>
          <a:prstGeom prst="line">
            <a:avLst/>
          </a:prstGeom>
          <a:ln w="19050">
            <a:solidFill>
              <a:srgbClr val="6B7E9B"/>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37960" y="1810512"/>
            <a:ext cx="0" cy="2139696"/>
          </a:xfrm>
          <a:prstGeom prst="line">
            <a:avLst/>
          </a:prstGeom>
          <a:ln w="19050">
            <a:solidFill>
              <a:srgbClr val="6B7E9B"/>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537960" y="2880360"/>
            <a:ext cx="365760" cy="0"/>
          </a:xfrm>
          <a:prstGeom prst="line">
            <a:avLst/>
          </a:prstGeom>
          <a:ln w="19050">
            <a:solidFill>
              <a:srgbClr val="6B7E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03720" y="2286000"/>
            <a:ext cx="2148840" cy="1188720"/>
          </a:xfrm>
          <a:prstGeom prst="roundRect">
            <a:avLst>
              <a:gd name="adj" fmla="val 5384"/>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286000"/>
            <a:ext cx="1929384" cy="1188720"/>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Inference — 4 models</a:t>
            </a:r>
          </a:p>
          <a:p>
            <a:pPr algn="l">
              <a:lnSpc>
                <a:spcPct val="105000"/>
              </a:lnSpc>
              <a:buNone/>
            </a:pPr>
            <a:r>
              <a:rPr sz="950" b="0" i="0">
                <a:solidFill>
                  <a:srgbClr val="9DAFC8"/>
                </a:solidFill>
                <a:latin typeface="Arial"/>
              </a:rPr>
              <a:t>ORB · YOLOv8n · Keypoint R-CNN · Panoptic FPN</a:t>
            </a:r>
          </a:p>
        </p:txBody>
      </p:sp>
      <p:cxnSp>
        <p:nvCxnSpPr>
          <p:cNvPr id="25" name="Connector 24"/>
          <p:cNvCxnSpPr/>
          <p:nvPr/>
        </p:nvCxnSpPr>
        <p:spPr>
          <a:xfrm>
            <a:off x="9052560" y="2880360"/>
            <a:ext cx="365760" cy="0"/>
          </a:xfrm>
          <a:prstGeom prst="line">
            <a:avLst/>
          </a:prstGeom>
          <a:ln w="19050">
            <a:solidFill>
              <a:srgbClr val="6B7E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418320" y="2286000"/>
            <a:ext cx="2267712" cy="1188720"/>
          </a:xfrm>
          <a:prstGeom prst="roundRect">
            <a:avLst>
              <a:gd name="adj" fmla="val 5384"/>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28048" y="2286000"/>
            <a:ext cx="2048256" cy="1188720"/>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Paired evaluation</a:t>
            </a:r>
          </a:p>
          <a:p>
            <a:pPr algn="l">
              <a:lnSpc>
                <a:spcPct val="105000"/>
              </a:lnSpc>
              <a:buNone/>
            </a:pPr>
            <a:r>
              <a:rPr sz="950" b="0" i="0">
                <a:solidFill>
                  <a:srgbClr val="9DAFC8"/>
                </a:solidFill>
                <a:latin typeface="Arial"/>
              </a:rPr>
              <a:t>same images &amp; GT → tables · curves · examples</a:t>
            </a:r>
          </a:p>
        </p:txBody>
      </p:sp>
      <p:sp>
        <p:nvSpPr>
          <p:cNvPr id="28" name="Rounded Rectangle 27"/>
          <p:cNvSpPr/>
          <p:nvPr/>
        </p:nvSpPr>
        <p:spPr>
          <a:xfrm>
            <a:off x="502920" y="4846320"/>
            <a:ext cx="2331720" cy="914400"/>
          </a:xfrm>
          <a:prstGeom prst="roundRect">
            <a:avLst>
              <a:gd name="adj" fmla="val 7000"/>
            </a:avLst>
          </a:prstGeom>
          <a:solidFill>
            <a:srgbClr val="121C2F"/>
          </a:solidFill>
          <a:ln w="9525">
            <a:solidFill>
              <a:srgbClr val="F0A4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4846320"/>
            <a:ext cx="2112263" cy="914400"/>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train2017 subset</a:t>
            </a:r>
          </a:p>
          <a:p>
            <a:pPr algn="l">
              <a:lnSpc>
                <a:spcPct val="105000"/>
              </a:lnSpc>
              <a:buNone/>
            </a:pPr>
            <a:r>
              <a:rPr sz="950" b="0" i="0">
                <a:solidFill>
                  <a:srgbClr val="9DAFC8"/>
                </a:solidFill>
                <a:latin typeface="Arial"/>
              </a:rPr>
              <a:t>9,000 images (seeded)</a:t>
            </a:r>
          </a:p>
        </p:txBody>
      </p:sp>
      <p:cxnSp>
        <p:nvCxnSpPr>
          <p:cNvPr id="30" name="Connector 29"/>
          <p:cNvCxnSpPr/>
          <p:nvPr/>
        </p:nvCxnSpPr>
        <p:spPr>
          <a:xfrm>
            <a:off x="2834640" y="5303520"/>
            <a:ext cx="365760" cy="0"/>
          </a:xfrm>
          <a:prstGeom prst="line">
            <a:avLst/>
          </a:prstGeom>
          <a:ln w="19050">
            <a:solidFill>
              <a:srgbClr val="F0A42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200400" y="4846320"/>
            <a:ext cx="3703320" cy="914400"/>
          </a:xfrm>
          <a:prstGeom prst="roundRect">
            <a:avLst>
              <a:gd name="adj" fmla="val 7000"/>
            </a:avLst>
          </a:prstGeom>
          <a:solidFill>
            <a:srgbClr val="121C2F"/>
          </a:solidFill>
          <a:ln w="9525">
            <a:solidFill>
              <a:srgbClr val="F0A4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10128" y="4846320"/>
            <a:ext cx="3483863" cy="914400"/>
          </a:xfrm>
          <a:prstGeom prst="rect">
            <a:avLst/>
          </a:prstGeom>
          <a:noFill/>
        </p:spPr>
        <p:txBody>
          <a:bodyPr wrap="square" lIns="0" rIns="0" tIns="0" bIns="0" anchor="ctr">
            <a:spAutoFit/>
          </a:bodyPr>
          <a:lstStyle/>
          <a:p>
            <a:pPr algn="l">
              <a:lnSpc>
                <a:spcPct val="106000"/>
              </a:lnSpc>
              <a:spcAft>
                <a:spcPts val="100"/>
              </a:spcAft>
              <a:buNone/>
            </a:pPr>
            <a:r>
              <a:rPr sz="1150" b="1" i="0">
                <a:solidFill>
                  <a:srgbClr val="EAF1FA"/>
                </a:solidFill>
                <a:latin typeface="Arial"/>
              </a:rPr>
              <a:t>Fine-tune YOLOv8n</a:t>
            </a:r>
          </a:p>
          <a:p>
            <a:pPr algn="l">
              <a:lnSpc>
                <a:spcPct val="105000"/>
              </a:lnSpc>
              <a:buNone/>
            </a:pPr>
            <a:r>
              <a:rPr sz="950" b="0" i="0">
                <a:solidFill>
                  <a:srgbClr val="9DAFC8"/>
                </a:solidFill>
                <a:latin typeface="Arial"/>
              </a:rPr>
              <a:t>mixture: 25% clean + all 9 distortion cells, half restored</a:t>
            </a:r>
          </a:p>
        </p:txBody>
      </p:sp>
      <p:cxnSp>
        <p:nvCxnSpPr>
          <p:cNvPr id="33" name="Connector 32"/>
          <p:cNvCxnSpPr/>
          <p:nvPr/>
        </p:nvCxnSpPr>
        <p:spPr>
          <a:xfrm>
            <a:off x="6903720" y="5303520"/>
            <a:ext cx="1069848" cy="0"/>
          </a:xfrm>
          <a:prstGeom prst="line">
            <a:avLst/>
          </a:prstGeom>
          <a:ln w="19050">
            <a:solidFill>
              <a:srgbClr val="F0A422"/>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973568" y="3520440"/>
            <a:ext cx="0" cy="1783080"/>
          </a:xfrm>
          <a:prstGeom prst="line">
            <a:avLst/>
          </a:prstGeom>
          <a:ln w="19050">
            <a:solidFill>
              <a:srgbClr val="F0A42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101583" y="4160520"/>
            <a:ext cx="2651760" cy="274320"/>
          </a:xfrm>
          <a:prstGeom prst="rect">
            <a:avLst/>
          </a:prstGeom>
          <a:noFill/>
        </p:spPr>
        <p:txBody>
          <a:bodyPr wrap="square" lIns="0" rIns="0" tIns="0" bIns="0" anchor="t">
            <a:spAutoFit/>
          </a:bodyPr>
          <a:lstStyle/>
          <a:p>
            <a:pPr algn="l">
              <a:lnSpc>
                <a:spcPct val="106000"/>
              </a:lnSpc>
              <a:buNone/>
            </a:pPr>
            <a:r>
              <a:rPr sz="950" b="0" i="1">
                <a:solidFill>
                  <a:srgbClr val="F0A422"/>
                </a:solidFill>
                <a:latin typeface="Arial"/>
              </a:rPr>
              <a:t>detection only — evaluated on every cell</a:t>
            </a:r>
          </a:p>
        </p:txBody>
      </p:sp>
      <p:sp>
        <p:nvSpPr>
          <p:cNvPr id="36" name="TextBox 35"/>
          <p:cNvSpPr txBox="1"/>
          <p:nvPr/>
        </p:nvSpPr>
        <p:spPr>
          <a:xfrm>
            <a:off x="502920" y="6144768"/>
            <a:ext cx="11155680" cy="274320"/>
          </a:xfrm>
          <a:prstGeom prst="rect">
            <a:avLst/>
          </a:prstGeom>
          <a:noFill/>
        </p:spPr>
        <p:txBody>
          <a:bodyPr wrap="square" lIns="0" rIns="0" tIns="0" bIns="0" anchor="t">
            <a:spAutoFit/>
          </a:bodyPr>
          <a:lstStyle/>
          <a:p>
            <a:pPr algn="l">
              <a:lnSpc>
                <a:spcPct val="106000"/>
              </a:lnSpc>
              <a:buNone/>
            </a:pPr>
            <a:r>
              <a:rPr sz="1000" b="0" i="0">
                <a:solidFill>
                  <a:srgbClr val="6B7E9B"/>
                </a:solidFill>
                <a:latin typeface="Arial"/>
              </a:rPr>
              <a:t>SNR + degradation parameters logged per image · distorted &amp; enhanced images stored as lossless PNG · every cell reproducible via seeded RNG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DATASET</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COCO val2017 — one seeded subset behind every number</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3 / 14</a:t>
            </a:r>
          </a:p>
        </p:txBody>
      </p:sp>
      <p:sp>
        <p:nvSpPr>
          <p:cNvPr id="5" name="Rounded Rectangle 4"/>
          <p:cNvSpPr/>
          <p:nvPr/>
        </p:nvSpPr>
        <p:spPr>
          <a:xfrm>
            <a:off x="502920" y="1783080"/>
            <a:ext cx="3291840" cy="1737360"/>
          </a:xfrm>
          <a:prstGeom prst="roundRect">
            <a:avLst>
              <a:gd name="adj" fmla="val 3684"/>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65960"/>
            <a:ext cx="2926080" cy="502920"/>
          </a:xfrm>
          <a:prstGeom prst="rect">
            <a:avLst/>
          </a:prstGeom>
          <a:noFill/>
        </p:spPr>
        <p:txBody>
          <a:bodyPr wrap="square" lIns="0" rIns="0" tIns="0" bIns="0" anchor="t">
            <a:spAutoFit/>
          </a:bodyPr>
          <a:lstStyle/>
          <a:p>
            <a:pPr algn="l">
              <a:lnSpc>
                <a:spcPct val="106000"/>
              </a:lnSpc>
              <a:buNone/>
            </a:pPr>
            <a:r>
              <a:rPr sz="2700" b="1" i="0">
                <a:solidFill>
                  <a:srgbClr val="3EC5FF"/>
                </a:solidFill>
                <a:latin typeface="Arial"/>
              </a:rPr>
              <a:t>1,521</a:t>
            </a:r>
          </a:p>
        </p:txBody>
      </p:sp>
      <p:sp>
        <p:nvSpPr>
          <p:cNvPr id="7" name="TextBox 6"/>
          <p:cNvSpPr txBox="1"/>
          <p:nvPr/>
        </p:nvSpPr>
        <p:spPr>
          <a:xfrm>
            <a:off x="685800" y="2560320"/>
            <a:ext cx="2962656" cy="868680"/>
          </a:xfrm>
          <a:prstGeom prst="rect">
            <a:avLst/>
          </a:prstGeom>
          <a:noFill/>
        </p:spPr>
        <p:txBody>
          <a:bodyPr wrap="square" lIns="0" rIns="0" tIns="0" bIns="0" anchor="t">
            <a:spAutoFit/>
          </a:bodyPr>
          <a:lstStyle/>
          <a:p>
            <a:pPr algn="l">
              <a:lnSpc>
                <a:spcPct val="114000"/>
              </a:lnSpc>
              <a:buNone/>
            </a:pPr>
            <a:r>
              <a:rPr sz="1050" b="0" i="0">
                <a:solidFill>
                  <a:srgbClr val="9DAFC8"/>
                </a:solidFill>
                <a:latin typeface="Arial"/>
              </a:rPr>
              <a:t>evaluation images — seeded sample of 1,500, topped up with 21 for class coverage</a:t>
            </a:r>
          </a:p>
        </p:txBody>
      </p:sp>
      <p:sp>
        <p:nvSpPr>
          <p:cNvPr id="8" name="Rounded Rectangle 7"/>
          <p:cNvSpPr/>
          <p:nvPr/>
        </p:nvSpPr>
        <p:spPr>
          <a:xfrm>
            <a:off x="3977639" y="1783080"/>
            <a:ext cx="3291840" cy="1737360"/>
          </a:xfrm>
          <a:prstGeom prst="roundRect">
            <a:avLst>
              <a:gd name="adj" fmla="val 3684"/>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60520" y="1965960"/>
            <a:ext cx="2926080" cy="502920"/>
          </a:xfrm>
          <a:prstGeom prst="rect">
            <a:avLst/>
          </a:prstGeom>
          <a:noFill/>
        </p:spPr>
        <p:txBody>
          <a:bodyPr wrap="square" lIns="0" rIns="0" tIns="0" bIns="0" anchor="t">
            <a:spAutoFit/>
          </a:bodyPr>
          <a:lstStyle/>
          <a:p>
            <a:pPr algn="l">
              <a:lnSpc>
                <a:spcPct val="106000"/>
              </a:lnSpc>
              <a:buNone/>
            </a:pPr>
            <a:r>
              <a:rPr sz="2700" b="1" i="0">
                <a:solidFill>
                  <a:srgbClr val="3EC5FF"/>
                </a:solidFill>
                <a:latin typeface="Arial"/>
              </a:rPr>
              <a:t>11,129</a:t>
            </a:r>
          </a:p>
        </p:txBody>
      </p:sp>
      <p:sp>
        <p:nvSpPr>
          <p:cNvPr id="10" name="TextBox 9"/>
          <p:cNvSpPr txBox="1"/>
          <p:nvPr/>
        </p:nvSpPr>
        <p:spPr>
          <a:xfrm>
            <a:off x="4160520" y="2560320"/>
            <a:ext cx="2962656" cy="868680"/>
          </a:xfrm>
          <a:prstGeom prst="rect">
            <a:avLst/>
          </a:prstGeom>
          <a:noFill/>
        </p:spPr>
        <p:txBody>
          <a:bodyPr wrap="square" lIns="0" rIns="0" tIns="0" bIns="0" anchor="t">
            <a:spAutoFit/>
          </a:bodyPr>
          <a:lstStyle/>
          <a:p>
            <a:pPr algn="l">
              <a:lnSpc>
                <a:spcPct val="114000"/>
              </a:lnSpc>
              <a:buNone/>
            </a:pPr>
            <a:r>
              <a:rPr sz="1050" b="0" i="0">
                <a:solidFill>
                  <a:srgbClr val="9DAFC8"/>
                </a:solidFill>
                <a:latin typeface="Arial"/>
              </a:rPr>
              <a:t>ground-truth instances in the subset · 3,273 person instances</a:t>
            </a:r>
          </a:p>
        </p:txBody>
      </p:sp>
      <p:sp>
        <p:nvSpPr>
          <p:cNvPr id="11" name="Rounded Rectangle 10"/>
          <p:cNvSpPr/>
          <p:nvPr/>
        </p:nvSpPr>
        <p:spPr>
          <a:xfrm>
            <a:off x="502920" y="3749039"/>
            <a:ext cx="3291840" cy="1737360"/>
          </a:xfrm>
          <a:prstGeom prst="roundRect">
            <a:avLst>
              <a:gd name="adj" fmla="val 3684"/>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931920"/>
            <a:ext cx="2926080" cy="502920"/>
          </a:xfrm>
          <a:prstGeom prst="rect">
            <a:avLst/>
          </a:prstGeom>
          <a:noFill/>
        </p:spPr>
        <p:txBody>
          <a:bodyPr wrap="square" lIns="0" rIns="0" tIns="0" bIns="0" anchor="t">
            <a:spAutoFit/>
          </a:bodyPr>
          <a:lstStyle/>
          <a:p>
            <a:pPr algn="l">
              <a:lnSpc>
                <a:spcPct val="106000"/>
              </a:lnSpc>
              <a:buNone/>
            </a:pPr>
            <a:r>
              <a:rPr sz="2700" b="1" i="0">
                <a:solidFill>
                  <a:srgbClr val="3EC5FF"/>
                </a:solidFill>
                <a:latin typeface="Arial"/>
              </a:rPr>
              <a:t>r = 0.999</a:t>
            </a:r>
          </a:p>
        </p:txBody>
      </p:sp>
      <p:sp>
        <p:nvSpPr>
          <p:cNvPr id="13" name="TextBox 12"/>
          <p:cNvSpPr txBox="1"/>
          <p:nvPr/>
        </p:nvSpPr>
        <p:spPr>
          <a:xfrm>
            <a:off x="685800" y="4526279"/>
            <a:ext cx="2962656" cy="868680"/>
          </a:xfrm>
          <a:prstGeom prst="rect">
            <a:avLst/>
          </a:prstGeom>
          <a:noFill/>
        </p:spPr>
        <p:txBody>
          <a:bodyPr wrap="square" lIns="0" rIns="0" tIns="0" bIns="0" anchor="t">
            <a:spAutoFit/>
          </a:bodyPr>
          <a:lstStyle/>
          <a:p>
            <a:pPr algn="l">
              <a:lnSpc>
                <a:spcPct val="114000"/>
              </a:lnSpc>
              <a:buNone/>
            </a:pPr>
            <a:r>
              <a:rPr sz="1050" b="0" i="0">
                <a:solidFill>
                  <a:srgbClr val="9DAFC8"/>
                </a:solidFill>
                <a:latin typeface="Arial"/>
              </a:rPr>
              <a:t>class-distribution correlation with the full 5,000-image val2017</a:t>
            </a:r>
          </a:p>
        </p:txBody>
      </p:sp>
      <p:sp>
        <p:nvSpPr>
          <p:cNvPr id="14" name="Rounded Rectangle 13"/>
          <p:cNvSpPr/>
          <p:nvPr/>
        </p:nvSpPr>
        <p:spPr>
          <a:xfrm>
            <a:off x="3977639" y="3749039"/>
            <a:ext cx="3291840" cy="1737360"/>
          </a:xfrm>
          <a:prstGeom prst="roundRect">
            <a:avLst>
              <a:gd name="adj" fmla="val 3684"/>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3931920"/>
            <a:ext cx="2926080" cy="502920"/>
          </a:xfrm>
          <a:prstGeom prst="rect">
            <a:avLst/>
          </a:prstGeom>
          <a:noFill/>
        </p:spPr>
        <p:txBody>
          <a:bodyPr wrap="square" lIns="0" rIns="0" tIns="0" bIns="0" anchor="t">
            <a:spAutoFit/>
          </a:bodyPr>
          <a:lstStyle/>
          <a:p>
            <a:pPr algn="l">
              <a:lnSpc>
                <a:spcPct val="106000"/>
              </a:lnSpc>
              <a:buNone/>
            </a:pPr>
            <a:r>
              <a:rPr sz="2700" b="1" i="0">
                <a:solidFill>
                  <a:srgbClr val="3EC5FF"/>
                </a:solidFill>
                <a:latin typeface="Arial"/>
              </a:rPr>
              <a:t>9,000</a:t>
            </a:r>
          </a:p>
        </p:txBody>
      </p:sp>
      <p:sp>
        <p:nvSpPr>
          <p:cNvPr id="16" name="TextBox 15"/>
          <p:cNvSpPr txBox="1"/>
          <p:nvPr/>
        </p:nvSpPr>
        <p:spPr>
          <a:xfrm>
            <a:off x="4160520" y="4526279"/>
            <a:ext cx="2962656" cy="868680"/>
          </a:xfrm>
          <a:prstGeom prst="rect">
            <a:avLst/>
          </a:prstGeom>
          <a:noFill/>
        </p:spPr>
        <p:txBody>
          <a:bodyPr wrap="square" lIns="0" rIns="0" tIns="0" bIns="0" anchor="t">
            <a:spAutoFit/>
          </a:bodyPr>
          <a:lstStyle/>
          <a:p>
            <a:pPr algn="l">
              <a:lnSpc>
                <a:spcPct val="114000"/>
              </a:lnSpc>
              <a:buNone/>
            </a:pPr>
            <a:r>
              <a:rPr sz="1050" b="0" i="0">
                <a:solidFill>
                  <a:srgbClr val="9DAFC8"/>
                </a:solidFill>
                <a:latin typeface="Arial"/>
              </a:rPr>
              <a:t>train2017 images (seeded) — used only for fine-tuning</a:t>
            </a:r>
          </a:p>
        </p:txBody>
      </p:sp>
      <p:sp>
        <p:nvSpPr>
          <p:cNvPr id="17" name="Rounded Rectangle 16"/>
          <p:cNvSpPr/>
          <p:nvPr/>
        </p:nvSpPr>
        <p:spPr>
          <a:xfrm>
            <a:off x="7543800" y="1783080"/>
            <a:ext cx="4142232" cy="3703320"/>
          </a:xfrm>
          <a:prstGeom prst="roundRect">
            <a:avLst>
              <a:gd name="adj" fmla="val 1728"/>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1947672"/>
            <a:ext cx="3749039" cy="256032"/>
          </a:xfrm>
          <a:prstGeom prst="rect">
            <a:avLst/>
          </a:prstGeom>
          <a:noFill/>
        </p:spPr>
        <p:txBody>
          <a:bodyPr wrap="square" lIns="0" rIns="0" tIns="0" bIns="0" anchor="t">
            <a:spAutoFit/>
          </a:bodyPr>
          <a:lstStyle/>
          <a:p>
            <a:pPr algn="l">
              <a:lnSpc>
                <a:spcPct val="106000"/>
              </a:lnSpc>
              <a:buNone/>
            </a:pPr>
            <a:r>
              <a:rPr sz="1050" b="1" i="0" spc="200">
                <a:solidFill>
                  <a:srgbClr val="3EC5FF"/>
                </a:solidFill>
                <a:latin typeface="Arial"/>
              </a:rPr>
              <a:t>WHY THIS SETUP</a:t>
            </a:r>
          </a:p>
        </p:txBody>
      </p:sp>
      <p:sp>
        <p:nvSpPr>
          <p:cNvPr id="19" name="TextBox 18"/>
          <p:cNvSpPr txBox="1"/>
          <p:nvPr/>
        </p:nvSpPr>
        <p:spPr>
          <a:xfrm>
            <a:off x="7726679" y="2331720"/>
            <a:ext cx="3794760" cy="3017520"/>
          </a:xfrm>
          <a:prstGeom prst="rect">
            <a:avLst/>
          </a:prstGeom>
          <a:noFill/>
        </p:spPr>
        <p:txBody>
          <a:bodyPr wrap="square" lIns="0" rIns="0" tIns="0" bIns="0" anchor="t">
            <a:spAutoFit/>
          </a:bodyPr>
          <a:lstStyle/>
          <a:p>
            <a:pPr algn="l" marL="171450" indent="-171450">
              <a:lnSpc>
                <a:spcPct val="106000"/>
              </a:lnSpc>
              <a:spcAft>
                <a:spcPts val="1000"/>
              </a:spcAft>
              <a:buFont typeface="Arial"/>
              <a:buChar char="•"/>
            </a:pPr>
            <a:r>
              <a:rPr sz="1100" b="0" i="0">
                <a:solidFill>
                  <a:srgbClr val="EAF1FA"/>
                </a:solidFill>
                <a:latin typeface="Arial"/>
              </a:rPr>
              <a:t>Public benchmark: 80 classes, ground truth for boxes, person keypoints and panoptic masks</a:t>
            </a:r>
          </a:p>
          <a:p>
            <a:pPr algn="l" marL="171450" indent="-171450">
              <a:lnSpc>
                <a:spcPct val="106000"/>
              </a:lnSpc>
              <a:spcAft>
                <a:spcPts val="1000"/>
              </a:spcAft>
              <a:buFont typeface="Arial"/>
              <a:buChar char="•"/>
            </a:pPr>
            <a:r>
              <a:rPr sz="1100" b="0" i="0">
                <a:solidFill>
                  <a:srgbClr val="EAF1FA"/>
                </a:solidFill>
                <a:latin typeface="Arial"/>
              </a:rPr>
              <a:t>The same images serve all four tasks — no cross-dataset alignment</a:t>
            </a:r>
          </a:p>
          <a:p>
            <a:pPr algn="l" marL="171450" indent="-171450">
              <a:lnSpc>
                <a:spcPct val="106000"/>
              </a:lnSpc>
              <a:spcAft>
                <a:spcPts val="1000"/>
              </a:spcAft>
              <a:buFont typeface="Arial"/>
              <a:buChar char="•"/>
            </a:pPr>
            <a:r>
              <a:rPr sz="1100" b="0" i="0">
                <a:solidFill>
                  <a:srgbClr val="EAF1FA"/>
                </a:solidFill>
                <a:latin typeface="Arial"/>
              </a:rPr>
              <a:t>Paired comparisons: identical images &amp; GT for every variant, so differences come only from image quality</a:t>
            </a:r>
          </a:p>
          <a:p>
            <a:pPr algn="l" marL="171450" indent="-171450">
              <a:lnSpc>
                <a:spcPct val="106000"/>
              </a:lnSpc>
              <a:spcAft>
                <a:spcPts val="1000"/>
              </a:spcAft>
              <a:buFont typeface="Arial"/>
              <a:buChar char="•"/>
            </a:pPr>
            <a:r>
              <a:rPr sz="1100" b="0" i="0">
                <a:solidFill>
                  <a:srgbClr val="EAF1FA"/>
                </a:solidFill>
                <a:latin typeface="Arial"/>
              </a:rPr>
              <a:t>Custom subset ⇒ published full-val2017 scores are approximate sanity checks, not direct comparisons</a:t>
            </a:r>
          </a:p>
        </p:txBody>
      </p:sp>
      <p:sp>
        <p:nvSpPr>
          <p:cNvPr id="20" name="TextBox 19"/>
          <p:cNvSpPr txBox="1"/>
          <p:nvPr/>
        </p:nvSpPr>
        <p:spPr>
          <a:xfrm>
            <a:off x="502920" y="5806440"/>
            <a:ext cx="11155680" cy="274320"/>
          </a:xfrm>
          <a:prstGeom prst="rect">
            <a:avLst/>
          </a:prstGeom>
          <a:noFill/>
        </p:spPr>
        <p:txBody>
          <a:bodyPr wrap="square" lIns="0" rIns="0" tIns="0" bIns="0" anchor="t">
            <a:spAutoFit/>
          </a:bodyPr>
          <a:lstStyle/>
          <a:p>
            <a:pPr algn="l">
              <a:lnSpc>
                <a:spcPct val="106000"/>
              </a:lnSpc>
              <a:buNone/>
            </a:pPr>
            <a:r>
              <a:rPr sz="1000" b="0" i="0">
                <a:solidFill>
                  <a:srgbClr val="6B7E9B"/>
                </a:solidFill>
                <a:latin typeface="Arial"/>
              </a:rPr>
              <a:t>Class coverage: every category reaches ≥ 20 GT instances, except toaster (9) and hair drier (11) — both exhaust their entire val2017 supply.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TASKS &amp; METRICS</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Four tasks — from raw pixel structure to full scene understanding</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4 / 14</a:t>
            </a:r>
          </a:p>
        </p:txBody>
      </p:sp>
      <p:graphicFrame>
        <p:nvGraphicFramePr>
          <p:cNvPr id="5" name="Table 4"/>
          <p:cNvGraphicFramePr>
            <a:graphicFrameLocks noGrp="1"/>
          </p:cNvGraphicFramePr>
          <p:nvPr/>
        </p:nvGraphicFramePr>
        <p:xfrm>
          <a:off x="502920" y="1508760"/>
          <a:ext cx="11183111" cy="3968496"/>
        </p:xfrm>
        <a:graphic>
          <a:graphicData uri="http://schemas.openxmlformats.org/drawingml/2006/table">
            <a:tbl>
              <a:tblPr>
                <a:tableStyleId>{5C22544A-7EE6-4342-B048-85BDC9FD1C3A}</a:tableStyleId>
              </a:tblPr>
              <a:tblGrid>
                <a:gridCol w="1874519"/>
                <a:gridCol w="1234440"/>
                <a:gridCol w="2788920"/>
                <a:gridCol w="1508760"/>
                <a:gridCol w="3776472"/>
              </a:tblGrid>
              <a:tr h="384048">
                <a:tc>
                  <a:txBody>
                    <a:bodyPr wrap="square"/>
                    <a:lstStyle/>
                    <a:p>
                      <a:pPr>
                        <a:lnSpc>
                          <a:spcPct val="105000"/>
                        </a:lnSpc>
                        <a:spcAft>
                          <a:spcPts val="0"/>
                        </a:spcAft>
                        <a:buNone/>
                      </a:pPr>
                      <a:r>
                        <a:rPr sz="1050" b="1">
                          <a:solidFill>
                            <a:srgbClr val="9DAFC8"/>
                          </a:solidFill>
                          <a:latin typeface="Arial"/>
                        </a:rPr>
                        <a:t>TASK</a:t>
                      </a:r>
                    </a:p>
                  </a:txBody>
                  <a:tcPr marL="82296" marR="82296" marT="45720" marB="45720" anchor="ctr">
                    <a:solidFill>
                      <a:srgbClr val="0F1830"/>
                    </a:solidFill>
                  </a:tcPr>
                </a:tc>
                <a:tc>
                  <a:txBody>
                    <a:bodyPr wrap="square"/>
                    <a:lstStyle/>
                    <a:p>
                      <a:pPr>
                        <a:lnSpc>
                          <a:spcPct val="105000"/>
                        </a:lnSpc>
                        <a:spcAft>
                          <a:spcPts val="0"/>
                        </a:spcAft>
                        <a:buNone/>
                      </a:pPr>
                      <a:r>
                        <a:rPr sz="1050" b="1">
                          <a:solidFill>
                            <a:srgbClr val="9DAFC8"/>
                          </a:solidFill>
                          <a:latin typeface="Arial"/>
                        </a:rPr>
                        <a:t>LEVEL</a:t>
                      </a:r>
                    </a:p>
                  </a:txBody>
                  <a:tcPr marL="82296" marR="82296" marT="45720" marB="45720" anchor="ctr">
                    <a:solidFill>
                      <a:srgbClr val="0F1830"/>
                    </a:solidFill>
                  </a:tcPr>
                </a:tc>
                <a:tc>
                  <a:txBody>
                    <a:bodyPr wrap="square"/>
                    <a:lstStyle/>
                    <a:p>
                      <a:pPr>
                        <a:lnSpc>
                          <a:spcPct val="105000"/>
                        </a:lnSpc>
                        <a:spcAft>
                          <a:spcPts val="0"/>
                        </a:spcAft>
                        <a:buNone/>
                      </a:pPr>
                      <a:r>
                        <a:rPr sz="1050" b="1">
                          <a:solidFill>
                            <a:srgbClr val="9DAFC8"/>
                          </a:solidFill>
                          <a:latin typeface="Arial"/>
                        </a:rPr>
                        <a:t>MODEL / ALGORITHM</a:t>
                      </a:r>
                    </a:p>
                  </a:txBody>
                  <a:tcPr marL="82296" marR="82296" marT="45720" marB="45720" anchor="ctr">
                    <a:solidFill>
                      <a:srgbClr val="0F1830"/>
                    </a:solidFill>
                  </a:tcPr>
                </a:tc>
                <a:tc>
                  <a:txBody>
                    <a:bodyPr wrap="square"/>
                    <a:lstStyle/>
                    <a:p>
                      <a:pPr>
                        <a:lnSpc>
                          <a:spcPct val="105000"/>
                        </a:lnSpc>
                        <a:spcAft>
                          <a:spcPts val="0"/>
                        </a:spcAft>
                        <a:buNone/>
                      </a:pPr>
                      <a:r>
                        <a:rPr sz="1050" b="1">
                          <a:solidFill>
                            <a:srgbClr val="9DAFC8"/>
                          </a:solidFill>
                          <a:latin typeface="Arial"/>
                        </a:rPr>
                        <a:t>METRIC</a:t>
                      </a:r>
                    </a:p>
                  </a:txBody>
                  <a:tcPr marL="82296" marR="82296" marT="45720" marB="45720" anchor="ctr">
                    <a:solidFill>
                      <a:srgbClr val="0F1830"/>
                    </a:solidFill>
                  </a:tcPr>
                </a:tc>
                <a:tc>
                  <a:txBody>
                    <a:bodyPr wrap="square"/>
                    <a:lstStyle/>
                    <a:p>
                      <a:pPr>
                        <a:lnSpc>
                          <a:spcPct val="105000"/>
                        </a:lnSpc>
                        <a:spcAft>
                          <a:spcPts val="0"/>
                        </a:spcAft>
                        <a:buNone/>
                      </a:pPr>
                      <a:r>
                        <a:rPr sz="1050" b="1">
                          <a:solidFill>
                            <a:srgbClr val="9DAFC8"/>
                          </a:solidFill>
                          <a:latin typeface="Arial"/>
                        </a:rPr>
                        <a:t>WHAT IT MEASURES</a:t>
                      </a:r>
                    </a:p>
                  </a:txBody>
                  <a:tcPr marL="82296" marR="82296" marT="45720" marB="45720" anchor="ctr">
                    <a:solidFill>
                      <a:srgbClr val="0F1830"/>
                    </a:solidFill>
                  </a:tcPr>
                </a:tc>
              </a:tr>
              <a:tr h="896112">
                <a:tc>
                  <a:txBody>
                    <a:bodyPr wrap="square"/>
                    <a:lstStyle/>
                    <a:p>
                      <a:pPr>
                        <a:lnSpc>
                          <a:spcPct val="105000"/>
                        </a:lnSpc>
                        <a:spcAft>
                          <a:spcPts val="0"/>
                        </a:spcAft>
                        <a:buNone/>
                      </a:pPr>
                      <a:r>
                        <a:rPr sz="1250" b="1">
                          <a:solidFill>
                            <a:srgbClr val="EAF1FA"/>
                          </a:solidFill>
                          <a:latin typeface="Arial"/>
                        </a:rPr>
                        <a:t>Feature matching</a:t>
                      </a:r>
                    </a:p>
                  </a:txBody>
                  <a:tcPr marL="82296" marR="82296" marT="45720" marB="45720" anchor="ctr">
                    <a:solidFill>
                      <a:srgbClr val="121C2F"/>
                    </a:solidFill>
                  </a:tcPr>
                </a:tc>
                <a:tc>
                  <a:txBody>
                    <a:bodyPr wrap="square"/>
                    <a:lstStyle/>
                    <a:p>
                      <a:pPr>
                        <a:lnSpc>
                          <a:spcPct val="105000"/>
                        </a:lnSpc>
                        <a:spcAft>
                          <a:spcPts val="0"/>
                        </a:spcAft>
                        <a:buNone/>
                      </a:pPr>
                      <a:r>
                        <a:rPr sz="1100">
                          <a:solidFill>
                            <a:srgbClr val="9AA7BD"/>
                          </a:solidFill>
                          <a:latin typeface="Arial"/>
                        </a:rPr>
                        <a:t>Low-level</a:t>
                      </a:r>
                    </a:p>
                  </a:txBody>
                  <a:tcPr marL="82296" marR="82296" marT="45720" marB="45720" anchor="ctr">
                    <a:solidFill>
                      <a:srgbClr val="121C2F"/>
                    </a:solidFill>
                  </a:tcPr>
                </a:tc>
                <a:tc>
                  <a:txBody>
                    <a:bodyPr wrap="square"/>
                    <a:lstStyle/>
                    <a:p>
                      <a:pPr>
                        <a:lnSpc>
                          <a:spcPct val="105000"/>
                        </a:lnSpc>
                        <a:spcAft>
                          <a:spcPts val="0"/>
                        </a:spcAft>
                        <a:buNone/>
                      </a:pPr>
                      <a:r>
                        <a:rPr sz="1100">
                          <a:solidFill>
                            <a:srgbClr val="EAF1FA"/>
                          </a:solidFill>
                          <a:latin typeface="Arial"/>
                        </a:rPr>
                        <a:t>ORB + BF matcher (Hamming, cross-check) — OpenCV</a:t>
                      </a:r>
                    </a:p>
                  </a:txBody>
                  <a:tcPr marL="82296" marR="82296" marT="45720" marB="45720" anchor="ctr">
                    <a:solidFill>
                      <a:srgbClr val="121C2F"/>
                    </a:solidFill>
                  </a:tcPr>
                </a:tc>
                <a:tc>
                  <a:txBody>
                    <a:bodyPr wrap="square"/>
                    <a:lstStyle/>
                    <a:p>
                      <a:pPr>
                        <a:lnSpc>
                          <a:spcPct val="105000"/>
                        </a:lnSpc>
                        <a:spcAft>
                          <a:spcPts val="0"/>
                        </a:spcAft>
                        <a:buNone/>
                      </a:pPr>
                      <a:r>
                        <a:rPr sz="1150" b="1">
                          <a:solidFill>
                            <a:srgbClr val="3EC5FF"/>
                          </a:solidFill>
                          <a:latin typeface="Arial"/>
                        </a:rPr>
                        <a:t>Match ratio vs clean</a:t>
                      </a:r>
                    </a:p>
                  </a:txBody>
                  <a:tcPr marL="82296" marR="82296" marT="45720" marB="45720" anchor="ctr">
                    <a:solidFill>
                      <a:srgbClr val="121C2F"/>
                    </a:solidFill>
                  </a:tcPr>
                </a:tc>
                <a:tc>
                  <a:txBody>
                    <a:bodyPr wrap="square"/>
                    <a:lstStyle/>
                    <a:p>
                      <a:pPr>
                        <a:lnSpc>
                          <a:spcPct val="105000"/>
                        </a:lnSpc>
                        <a:spcAft>
                          <a:spcPts val="0"/>
                        </a:spcAft>
                        <a:buNone/>
                      </a:pPr>
                      <a:r>
                        <a:rPr sz="1100">
                          <a:solidFill>
                            <a:srgbClr val="9DAFC8"/>
                          </a:solidFill>
                          <a:latin typeface="Arial"/>
                        </a:rPr>
                        <a:t>Share of clean keypoints re-matched in the degraded image (Hamming ≤ 64) — does local structure survive?</a:t>
                      </a:r>
                    </a:p>
                  </a:txBody>
                  <a:tcPr marL="82296" marR="82296" marT="45720" marB="45720" anchor="ctr">
                    <a:solidFill>
                      <a:srgbClr val="121C2F"/>
                    </a:solidFill>
                  </a:tcPr>
                </a:tc>
              </a:tr>
              <a:tr h="896112">
                <a:tc>
                  <a:txBody>
                    <a:bodyPr wrap="square"/>
                    <a:lstStyle/>
                    <a:p>
                      <a:pPr>
                        <a:lnSpc>
                          <a:spcPct val="105000"/>
                        </a:lnSpc>
                        <a:spcAft>
                          <a:spcPts val="0"/>
                        </a:spcAft>
                        <a:buNone/>
                      </a:pPr>
                      <a:r>
                        <a:rPr sz="1250" b="1">
                          <a:solidFill>
                            <a:srgbClr val="EAF1FA"/>
                          </a:solidFill>
                          <a:latin typeface="Arial"/>
                        </a:rPr>
                        <a:t>Object detection</a:t>
                      </a:r>
                    </a:p>
                  </a:txBody>
                  <a:tcPr marL="82296" marR="82296" marT="45720" marB="45720" anchor="ctr">
                    <a:solidFill>
                      <a:srgbClr val="16233A"/>
                    </a:solidFill>
                  </a:tcPr>
                </a:tc>
                <a:tc>
                  <a:txBody>
                    <a:bodyPr wrap="square"/>
                    <a:lstStyle/>
                    <a:p>
                      <a:pPr>
                        <a:lnSpc>
                          <a:spcPct val="105000"/>
                        </a:lnSpc>
                        <a:spcAft>
                          <a:spcPts val="0"/>
                        </a:spcAft>
                        <a:buNone/>
                      </a:pPr>
                      <a:r>
                        <a:rPr sz="1100">
                          <a:solidFill>
                            <a:srgbClr val="9AA7BD"/>
                          </a:solidFill>
                          <a:latin typeface="Arial"/>
                        </a:rPr>
                        <a:t>High-level · DL</a:t>
                      </a:r>
                    </a:p>
                  </a:txBody>
                  <a:tcPr marL="82296" marR="82296" marT="45720" marB="45720" anchor="ctr">
                    <a:solidFill>
                      <a:srgbClr val="16233A"/>
                    </a:solidFill>
                  </a:tcPr>
                </a:tc>
                <a:tc>
                  <a:txBody>
                    <a:bodyPr wrap="square"/>
                    <a:lstStyle/>
                    <a:p>
                      <a:pPr>
                        <a:lnSpc>
                          <a:spcPct val="105000"/>
                        </a:lnSpc>
                        <a:spcAft>
                          <a:spcPts val="0"/>
                        </a:spcAft>
                        <a:buNone/>
                      </a:pPr>
                      <a:r>
                        <a:rPr sz="1100">
                          <a:solidFill>
                            <a:srgbClr val="EAF1FA"/>
                          </a:solidFill>
                          <a:latin typeface="Arial"/>
                        </a:rPr>
                        <a:t>YOLOv8n, COCO-pretrained — ultralytics</a:t>
                      </a:r>
                    </a:p>
                  </a:txBody>
                  <a:tcPr marL="82296" marR="82296" marT="45720" marB="45720" anchor="ctr">
                    <a:solidFill>
                      <a:srgbClr val="16233A"/>
                    </a:solidFill>
                  </a:tcPr>
                </a:tc>
                <a:tc>
                  <a:txBody>
                    <a:bodyPr wrap="square"/>
                    <a:lstStyle/>
                    <a:p>
                      <a:pPr>
                        <a:lnSpc>
                          <a:spcPct val="105000"/>
                        </a:lnSpc>
                        <a:spcAft>
                          <a:spcPts val="0"/>
                        </a:spcAft>
                        <a:buNone/>
                      </a:pPr>
                      <a:r>
                        <a:rPr sz="1150" b="1">
                          <a:solidFill>
                            <a:srgbClr val="3EC5FF"/>
                          </a:solidFill>
                          <a:latin typeface="Arial"/>
                        </a:rPr>
                        <a:t>mAP@[.5:.95]</a:t>
                      </a:r>
                    </a:p>
                  </a:txBody>
                  <a:tcPr marL="82296" marR="82296" marT="45720" marB="45720" anchor="ctr">
                    <a:solidFill>
                      <a:srgbClr val="16233A"/>
                    </a:solidFill>
                  </a:tcPr>
                </a:tc>
                <a:tc>
                  <a:txBody>
                    <a:bodyPr wrap="square"/>
                    <a:lstStyle/>
                    <a:p>
                      <a:pPr>
                        <a:lnSpc>
                          <a:spcPct val="105000"/>
                        </a:lnSpc>
                        <a:spcAft>
                          <a:spcPts val="0"/>
                        </a:spcAft>
                        <a:buNone/>
                      </a:pPr>
                      <a:r>
                        <a:rPr sz="1100">
                          <a:solidFill>
                            <a:srgbClr val="9DAFC8"/>
                          </a:solidFill>
                          <a:latin typeface="Arial"/>
                        </a:rPr>
                        <a:t>Detect + tightly localize 80 classes; AP averaged over 10 IoU thresholds</a:t>
                      </a:r>
                    </a:p>
                  </a:txBody>
                  <a:tcPr marL="82296" marR="82296" marT="45720" marB="45720" anchor="ctr">
                    <a:solidFill>
                      <a:srgbClr val="16233A"/>
                    </a:solidFill>
                  </a:tcPr>
                </a:tc>
              </a:tr>
              <a:tr h="896112">
                <a:tc>
                  <a:txBody>
                    <a:bodyPr wrap="square"/>
                    <a:lstStyle/>
                    <a:p>
                      <a:pPr>
                        <a:lnSpc>
                          <a:spcPct val="105000"/>
                        </a:lnSpc>
                        <a:spcAft>
                          <a:spcPts val="0"/>
                        </a:spcAft>
                        <a:buNone/>
                      </a:pPr>
                      <a:r>
                        <a:rPr sz="1250" b="1">
                          <a:solidFill>
                            <a:srgbClr val="EAF1FA"/>
                          </a:solidFill>
                          <a:latin typeface="Arial"/>
                        </a:rPr>
                        <a:t>Keypoint detection</a:t>
                      </a:r>
                    </a:p>
                  </a:txBody>
                  <a:tcPr marL="82296" marR="82296" marT="45720" marB="45720" anchor="ctr">
                    <a:solidFill>
                      <a:srgbClr val="121C2F"/>
                    </a:solidFill>
                  </a:tcPr>
                </a:tc>
                <a:tc>
                  <a:txBody>
                    <a:bodyPr wrap="square"/>
                    <a:lstStyle/>
                    <a:p>
                      <a:pPr>
                        <a:lnSpc>
                          <a:spcPct val="105000"/>
                        </a:lnSpc>
                        <a:spcAft>
                          <a:spcPts val="0"/>
                        </a:spcAft>
                        <a:buNone/>
                      </a:pPr>
                      <a:r>
                        <a:rPr sz="1100">
                          <a:solidFill>
                            <a:srgbClr val="9AA7BD"/>
                          </a:solidFill>
                          <a:latin typeface="Arial"/>
                        </a:rPr>
                        <a:t>High-level · DL</a:t>
                      </a:r>
                    </a:p>
                  </a:txBody>
                  <a:tcPr marL="82296" marR="82296" marT="45720" marB="45720" anchor="ctr">
                    <a:solidFill>
                      <a:srgbClr val="121C2F"/>
                    </a:solidFill>
                  </a:tcPr>
                </a:tc>
                <a:tc>
                  <a:txBody>
                    <a:bodyPr wrap="square"/>
                    <a:lstStyle/>
                    <a:p>
                      <a:pPr>
                        <a:lnSpc>
                          <a:spcPct val="105000"/>
                        </a:lnSpc>
                        <a:spcAft>
                          <a:spcPts val="0"/>
                        </a:spcAft>
                        <a:buNone/>
                      </a:pPr>
                      <a:r>
                        <a:rPr sz="1100">
                          <a:solidFill>
                            <a:srgbClr val="EAF1FA"/>
                          </a:solidFill>
                          <a:latin typeface="Arial"/>
                        </a:rPr>
                        <a:t>Keypoint R-CNN, ResNet50-FPN — torchvision</a:t>
                      </a:r>
                    </a:p>
                  </a:txBody>
                  <a:tcPr marL="82296" marR="82296" marT="45720" marB="45720" anchor="ctr">
                    <a:solidFill>
                      <a:srgbClr val="121C2F"/>
                    </a:solidFill>
                  </a:tcPr>
                </a:tc>
                <a:tc>
                  <a:txBody>
                    <a:bodyPr wrap="square"/>
                    <a:lstStyle/>
                    <a:p>
                      <a:pPr>
                        <a:lnSpc>
                          <a:spcPct val="105000"/>
                        </a:lnSpc>
                        <a:spcAft>
                          <a:spcPts val="0"/>
                        </a:spcAft>
                        <a:buNone/>
                      </a:pPr>
                      <a:r>
                        <a:rPr sz="1150" b="1">
                          <a:solidFill>
                            <a:srgbClr val="3EC5FF"/>
                          </a:solidFill>
                          <a:latin typeface="Arial"/>
                        </a:rPr>
                        <a:t>OKS AP</a:t>
                      </a:r>
                    </a:p>
                  </a:txBody>
                  <a:tcPr marL="82296" marR="82296" marT="45720" marB="45720" anchor="ctr">
                    <a:solidFill>
                      <a:srgbClr val="121C2F"/>
                    </a:solidFill>
                  </a:tcPr>
                </a:tc>
                <a:tc>
                  <a:txBody>
                    <a:bodyPr wrap="square"/>
                    <a:lstStyle/>
                    <a:p>
                      <a:pPr>
                        <a:lnSpc>
                          <a:spcPct val="105000"/>
                        </a:lnSpc>
                        <a:spcAft>
                          <a:spcPts val="0"/>
                        </a:spcAft>
                        <a:buNone/>
                      </a:pPr>
                      <a:r>
                        <a:rPr sz="1100">
                          <a:solidFill>
                            <a:srgbClr val="9DAFC8"/>
                          </a:solidFill>
                          <a:latin typeface="Arial"/>
                        </a:rPr>
                        <a:t>17 human joints per person; AP with IoU replaced by scale-normalized keypoint similarity</a:t>
                      </a:r>
                    </a:p>
                  </a:txBody>
                  <a:tcPr marL="82296" marR="82296" marT="45720" marB="45720" anchor="ctr">
                    <a:solidFill>
                      <a:srgbClr val="121C2F"/>
                    </a:solidFill>
                  </a:tcPr>
                </a:tc>
              </a:tr>
              <a:tr h="896112">
                <a:tc>
                  <a:txBody>
                    <a:bodyPr wrap="square"/>
                    <a:lstStyle/>
                    <a:p>
                      <a:pPr>
                        <a:lnSpc>
                          <a:spcPct val="105000"/>
                        </a:lnSpc>
                        <a:spcAft>
                          <a:spcPts val="0"/>
                        </a:spcAft>
                        <a:buNone/>
                      </a:pPr>
                      <a:r>
                        <a:rPr sz="1250" b="1">
                          <a:solidFill>
                            <a:srgbClr val="EAF1FA"/>
                          </a:solidFill>
                          <a:latin typeface="Arial"/>
                        </a:rPr>
                        <a:t>Panoptic segmentation</a:t>
                      </a:r>
                    </a:p>
                  </a:txBody>
                  <a:tcPr marL="82296" marR="82296" marT="45720" marB="45720" anchor="ctr">
                    <a:solidFill>
                      <a:srgbClr val="16233A"/>
                    </a:solidFill>
                  </a:tcPr>
                </a:tc>
                <a:tc>
                  <a:txBody>
                    <a:bodyPr wrap="square"/>
                    <a:lstStyle/>
                    <a:p>
                      <a:pPr>
                        <a:lnSpc>
                          <a:spcPct val="105000"/>
                        </a:lnSpc>
                        <a:spcAft>
                          <a:spcPts val="0"/>
                        </a:spcAft>
                        <a:buNone/>
                      </a:pPr>
                      <a:r>
                        <a:rPr sz="1100">
                          <a:solidFill>
                            <a:srgbClr val="9AA7BD"/>
                          </a:solidFill>
                          <a:latin typeface="Arial"/>
                        </a:rPr>
                        <a:t>High-level · DL</a:t>
                      </a:r>
                    </a:p>
                  </a:txBody>
                  <a:tcPr marL="82296" marR="82296" marT="45720" marB="45720" anchor="ctr">
                    <a:solidFill>
                      <a:srgbClr val="16233A"/>
                    </a:solidFill>
                  </a:tcPr>
                </a:tc>
                <a:tc>
                  <a:txBody>
                    <a:bodyPr wrap="square"/>
                    <a:lstStyle/>
                    <a:p>
                      <a:pPr>
                        <a:lnSpc>
                          <a:spcPct val="105000"/>
                        </a:lnSpc>
                        <a:spcAft>
                          <a:spcPts val="0"/>
                        </a:spcAft>
                        <a:buNone/>
                      </a:pPr>
                      <a:r>
                        <a:rPr sz="1100">
                          <a:solidFill>
                            <a:srgbClr val="EAF1FA"/>
                          </a:solidFill>
                          <a:latin typeface="Arial"/>
                        </a:rPr>
                        <a:t>Panoptic FPN R50 — detectron2</a:t>
                      </a:r>
                    </a:p>
                  </a:txBody>
                  <a:tcPr marL="82296" marR="82296" marT="45720" marB="45720" anchor="ctr">
                    <a:solidFill>
                      <a:srgbClr val="16233A"/>
                    </a:solidFill>
                  </a:tcPr>
                </a:tc>
                <a:tc>
                  <a:txBody>
                    <a:bodyPr wrap="square"/>
                    <a:lstStyle/>
                    <a:p>
                      <a:pPr>
                        <a:lnSpc>
                          <a:spcPct val="105000"/>
                        </a:lnSpc>
                        <a:spcAft>
                          <a:spcPts val="0"/>
                        </a:spcAft>
                        <a:buNone/>
                      </a:pPr>
                      <a:r>
                        <a:rPr sz="1150" b="1">
                          <a:solidFill>
                            <a:srgbClr val="3EC5FF"/>
                          </a:solidFill>
                          <a:latin typeface="Arial"/>
                        </a:rPr>
                        <a:t>PQ = SQ × RQ</a:t>
                      </a:r>
                    </a:p>
                  </a:txBody>
                  <a:tcPr marL="82296" marR="82296" marT="45720" marB="45720" anchor="ctr">
                    <a:solidFill>
                      <a:srgbClr val="16233A"/>
                    </a:solidFill>
                  </a:tcPr>
                </a:tc>
                <a:tc>
                  <a:txBody>
                    <a:bodyPr wrap="square"/>
                    <a:lstStyle/>
                    <a:p>
                      <a:pPr>
                        <a:lnSpc>
                          <a:spcPct val="105000"/>
                        </a:lnSpc>
                        <a:spcAft>
                          <a:spcPts val="0"/>
                        </a:spcAft>
                        <a:buNone/>
                      </a:pPr>
                      <a:r>
                        <a:rPr sz="1100">
                          <a:solidFill>
                            <a:srgbClr val="9DAFC8"/>
                          </a:solidFill>
                          <a:latin typeface="Arial"/>
                        </a:rPr>
                        <a:t>Every pixel gets category + segment: mask quality (SQ) × segment recognition (RQ)</a:t>
                      </a:r>
                    </a:p>
                  </a:txBody>
                  <a:tcPr marL="82296" marR="82296" marT="45720" marB="45720" anchor="ctr">
                    <a:solidFill>
                      <a:srgbClr val="16233A"/>
                    </a:solidFill>
                  </a:tcPr>
                </a:tc>
              </a:tr>
            </a:tbl>
          </a:graphicData>
        </a:graphic>
      </p:graphicFrame>
      <p:sp>
        <p:nvSpPr>
          <p:cNvPr id="6" name="TextBox 5"/>
          <p:cNvSpPr txBox="1"/>
          <p:nvPr/>
        </p:nvSpPr>
        <p:spPr>
          <a:xfrm>
            <a:off x="502920" y="5806440"/>
            <a:ext cx="11155680" cy="502920"/>
          </a:xfrm>
          <a:prstGeom prst="rect">
            <a:avLst/>
          </a:prstGeom>
          <a:noFill/>
        </p:spPr>
        <p:txBody>
          <a:bodyPr wrap="square" lIns="0" rIns="0" tIns="0" bIns="0" anchor="t">
            <a:spAutoFit/>
          </a:bodyPr>
          <a:lstStyle/>
          <a:p>
            <a:pPr algn="l">
              <a:lnSpc>
                <a:spcPct val="115000"/>
              </a:lnSpc>
              <a:buNone/>
            </a:pPr>
            <a:r>
              <a:rPr sz="1050" b="0" i="0">
                <a:solidFill>
                  <a:srgbClr val="6B7E9B"/>
                </a:solidFill>
                <a:latin typeface="Arial"/>
              </a:rPr>
              <a:t>All metrics ∈ [0, 1], higher is better. ORB needs no ground truth — each clean image is its own reference. The three learned models are COCO-pretrained; detection is the focus of the fine-tuning comparison.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CORRUPTIONS &amp; MATCHED RESTORATION</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Three corruptions, three severities — one matched repair each</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5 / 14</a:t>
            </a:r>
          </a:p>
        </p:txBody>
      </p:sp>
      <p:graphicFrame>
        <p:nvGraphicFramePr>
          <p:cNvPr id="5" name="Table 4"/>
          <p:cNvGraphicFramePr>
            <a:graphicFrameLocks noGrp="1"/>
          </p:cNvGraphicFramePr>
          <p:nvPr/>
        </p:nvGraphicFramePr>
        <p:xfrm>
          <a:off x="502920" y="1554480"/>
          <a:ext cx="6537960" cy="3621024"/>
        </p:xfrm>
        <a:graphic>
          <a:graphicData uri="http://schemas.openxmlformats.org/drawingml/2006/table">
            <a:tbl>
              <a:tblPr>
                <a:tableStyleId>{5C22544A-7EE6-4342-B048-85BDC9FD1C3A}</a:tableStyleId>
              </a:tblPr>
              <a:tblGrid>
                <a:gridCol w="2743200"/>
                <a:gridCol w="1554480"/>
                <a:gridCol w="2240280"/>
              </a:tblGrid>
              <a:tr h="384048">
                <a:tc>
                  <a:txBody>
                    <a:bodyPr wrap="square"/>
                    <a:lstStyle/>
                    <a:p>
                      <a:pPr>
                        <a:lnSpc>
                          <a:spcPct val="108000"/>
                        </a:lnSpc>
                        <a:spcAft>
                          <a:spcPts val="0"/>
                        </a:spcAft>
                        <a:buNone/>
                      </a:pPr>
                      <a:r>
                        <a:rPr sz="1050" b="1">
                          <a:solidFill>
                            <a:srgbClr val="9DAFC8"/>
                          </a:solidFill>
                          <a:latin typeface="Arial"/>
                        </a:rPr>
                        <a:t>CORRUPTION</a:t>
                      </a:r>
                    </a:p>
                  </a:txBody>
                  <a:tcPr marL="82296" marR="82296" marT="45720" marB="45720" anchor="ctr">
                    <a:solidFill>
                      <a:srgbClr val="0F1830"/>
                    </a:solidFill>
                  </a:tcPr>
                </a:tc>
                <a:tc>
                  <a:txBody>
                    <a:bodyPr wrap="square"/>
                    <a:lstStyle/>
                    <a:p>
                      <a:pPr>
                        <a:lnSpc>
                          <a:spcPct val="108000"/>
                        </a:lnSpc>
                        <a:spcAft>
                          <a:spcPts val="0"/>
                        </a:spcAft>
                        <a:buNone/>
                      </a:pPr>
                      <a:r>
                        <a:rPr sz="1050" b="1">
                          <a:solidFill>
                            <a:srgbClr val="9DAFC8"/>
                          </a:solidFill>
                          <a:latin typeface="Arial"/>
                        </a:rPr>
                        <a:t>SEVERITY → MEAN SNR</a:t>
                      </a:r>
                    </a:p>
                  </a:txBody>
                  <a:tcPr marL="82296" marR="82296" marT="45720" marB="45720" anchor="ctr">
                    <a:solidFill>
                      <a:srgbClr val="0F1830"/>
                    </a:solidFill>
                  </a:tcPr>
                </a:tc>
                <a:tc>
                  <a:txBody>
                    <a:bodyPr wrap="square"/>
                    <a:lstStyle/>
                    <a:p>
                      <a:pPr>
                        <a:lnSpc>
                          <a:spcPct val="108000"/>
                        </a:lnSpc>
                        <a:spcAft>
                          <a:spcPts val="0"/>
                        </a:spcAft>
                        <a:buNone/>
                      </a:pPr>
                      <a:r>
                        <a:rPr sz="1050" b="1">
                          <a:solidFill>
                            <a:srgbClr val="9DAFC8"/>
                          </a:solidFill>
                          <a:latin typeface="Arial"/>
                        </a:rPr>
                        <a:t>MATCHED ENHANCEMENT</a:t>
                      </a:r>
                    </a:p>
                  </a:txBody>
                  <a:tcPr marL="82296" marR="82296" marT="45720" marB="45720" anchor="ctr">
                    <a:solidFill>
                      <a:srgbClr val="0F1830"/>
                    </a:solidFill>
                  </a:tcPr>
                </a:tc>
              </a:tr>
              <a:tr h="1078992">
                <a:tc>
                  <a:txBody>
                    <a:bodyPr wrap="square"/>
                    <a:lstStyle/>
                    <a:p>
                      <a:pPr>
                        <a:lnSpc>
                          <a:spcPct val="108000"/>
                        </a:lnSpc>
                        <a:spcAft>
                          <a:spcPts val="0"/>
                        </a:spcAft>
                        <a:buNone/>
                      </a:pPr>
                      <a:r>
                        <a:rPr sz="1050">
                          <a:solidFill>
                            <a:srgbClr val="EAF1FA"/>
                          </a:solidFill>
                          <a:latin typeface="Arial"/>
                        </a:rPr>
                        <a:t>Gaussian noise — sensor noise; variance sampled &amp; recorded per image</a:t>
                      </a:r>
                    </a:p>
                  </a:txBody>
                  <a:tcPr marL="82296" marR="82296" marT="45720" marB="45720" anchor="ctr">
                    <a:solidFill>
                      <a:srgbClr val="121C2F"/>
                    </a:solidFill>
                  </a:tcPr>
                </a:tc>
                <a:tc>
                  <a:txBody>
                    <a:bodyPr wrap="square"/>
                    <a:lstStyle/>
                    <a:p>
                      <a:pPr>
                        <a:lnSpc>
                          <a:spcPct val="108000"/>
                        </a:lnSpc>
                        <a:spcAft>
                          <a:spcPts val="0"/>
                        </a:spcAft>
                        <a:buNone/>
                      </a:pPr>
                      <a:r>
                        <a:rPr sz="1150" b="1">
                          <a:solidFill>
                            <a:srgbClr val="3B82F6"/>
                          </a:solidFill>
                          <a:latin typeface="Arial"/>
                        </a:rPr>
                        <a:t>19.5 / 13.9 / 10.0 dB</a:t>
                      </a:r>
                    </a:p>
                  </a:txBody>
                  <a:tcPr marL="82296" marR="82296" marT="45720" marB="45720" anchor="ctr">
                    <a:solidFill>
                      <a:srgbClr val="121C2F"/>
                    </a:solidFill>
                  </a:tcPr>
                </a:tc>
                <a:tc>
                  <a:txBody>
                    <a:bodyPr wrap="square"/>
                    <a:lstStyle/>
                    <a:p>
                      <a:pPr>
                        <a:lnSpc>
                          <a:spcPct val="108000"/>
                        </a:lnSpc>
                        <a:spcAft>
                          <a:spcPts val="0"/>
                        </a:spcAft>
                        <a:buNone/>
                      </a:pPr>
                      <a:r>
                        <a:rPr sz="1050">
                          <a:solidFill>
                            <a:srgbClr val="1FA971"/>
                          </a:solidFill>
                          <a:latin typeface="Arial"/>
                        </a:rPr>
                        <a:t>Non-blind BM3D — σ derived from the recorded variance</a:t>
                      </a:r>
                    </a:p>
                  </a:txBody>
                  <a:tcPr marL="82296" marR="82296" marT="45720" marB="45720" anchor="ctr">
                    <a:solidFill>
                      <a:srgbClr val="121C2F"/>
                    </a:solidFill>
                  </a:tcPr>
                </a:tc>
              </a:tr>
              <a:tr h="1078992">
                <a:tc>
                  <a:txBody>
                    <a:bodyPr wrap="square"/>
                    <a:lstStyle/>
                    <a:p>
                      <a:pPr>
                        <a:lnSpc>
                          <a:spcPct val="108000"/>
                        </a:lnSpc>
                        <a:spcAft>
                          <a:spcPts val="0"/>
                        </a:spcAft>
                        <a:buNone/>
                      </a:pPr>
                      <a:r>
                        <a:rPr sz="1050">
                          <a:solidFill>
                            <a:srgbClr val="EAF1FA"/>
                          </a:solidFill>
                          <a:latin typeface="Arial"/>
                        </a:rPr>
                        <a:t>Salt &amp; pepper — impulse pixels → 0 or 255; amount 1% / 5% / 12%</a:t>
                      </a:r>
                    </a:p>
                  </a:txBody>
                  <a:tcPr marL="82296" marR="82296" marT="45720" marB="45720" anchor="ctr">
                    <a:solidFill>
                      <a:srgbClr val="16233A"/>
                    </a:solidFill>
                  </a:tcPr>
                </a:tc>
                <a:tc>
                  <a:txBody>
                    <a:bodyPr wrap="square"/>
                    <a:lstStyle/>
                    <a:p>
                      <a:pPr>
                        <a:lnSpc>
                          <a:spcPct val="108000"/>
                        </a:lnSpc>
                        <a:spcAft>
                          <a:spcPts val="0"/>
                        </a:spcAft>
                        <a:buNone/>
                      </a:pPr>
                      <a:r>
                        <a:rPr sz="1150" b="1">
                          <a:solidFill>
                            <a:srgbClr val="3B82F6"/>
                          </a:solidFill>
                          <a:latin typeface="Arial"/>
                        </a:rPr>
                        <a:t>18.7 / 11.8 / 8.2 dB</a:t>
                      </a:r>
                    </a:p>
                  </a:txBody>
                  <a:tcPr marL="82296" marR="82296" marT="45720" marB="45720" anchor="ctr">
                    <a:solidFill>
                      <a:srgbClr val="16233A"/>
                    </a:solidFill>
                  </a:tcPr>
                </a:tc>
                <a:tc>
                  <a:txBody>
                    <a:bodyPr wrap="square"/>
                    <a:lstStyle/>
                    <a:p>
                      <a:pPr>
                        <a:lnSpc>
                          <a:spcPct val="108000"/>
                        </a:lnSpc>
                        <a:spcAft>
                          <a:spcPts val="0"/>
                        </a:spcAft>
                        <a:buNone/>
                      </a:pPr>
                      <a:r>
                        <a:rPr sz="1050">
                          <a:solidFill>
                            <a:srgbClr val="1FA971"/>
                          </a:solidFill>
                          <a:latin typeface="Arial"/>
                        </a:rPr>
                        <a:t>Median filter 3×3 — discards isolated outliers</a:t>
                      </a:r>
                    </a:p>
                  </a:txBody>
                  <a:tcPr marL="82296" marR="82296" marT="45720" marB="45720" anchor="ctr">
                    <a:solidFill>
                      <a:srgbClr val="16233A"/>
                    </a:solidFill>
                  </a:tcPr>
                </a:tc>
              </a:tr>
              <a:tr h="1078992">
                <a:tc>
                  <a:txBody>
                    <a:bodyPr wrap="square"/>
                    <a:lstStyle/>
                    <a:p>
                      <a:pPr>
                        <a:lnSpc>
                          <a:spcPct val="108000"/>
                        </a:lnSpc>
                        <a:spcAft>
                          <a:spcPts val="0"/>
                        </a:spcAft>
                        <a:buNone/>
                      </a:pPr>
                      <a:r>
                        <a:rPr sz="1050">
                          <a:solidFill>
                            <a:srgbClr val="EAF1FA"/>
                          </a:solidFill>
                          <a:latin typeface="Arial"/>
                        </a:rPr>
                        <a:t>Motion blur — global linear kernel 5 / 11 / 21 px; angle sampled &amp; recorded</a:t>
                      </a:r>
                    </a:p>
                  </a:txBody>
                  <a:tcPr marL="82296" marR="82296" marT="45720" marB="45720" anchor="ctr">
                    <a:solidFill>
                      <a:srgbClr val="121C2F"/>
                    </a:solidFill>
                  </a:tcPr>
                </a:tc>
                <a:tc>
                  <a:txBody>
                    <a:bodyPr wrap="square"/>
                    <a:lstStyle/>
                    <a:p>
                      <a:pPr>
                        <a:lnSpc>
                          <a:spcPct val="108000"/>
                        </a:lnSpc>
                        <a:spcAft>
                          <a:spcPts val="0"/>
                        </a:spcAft>
                        <a:buNone/>
                      </a:pPr>
                      <a:r>
                        <a:rPr sz="1150" b="1">
                          <a:solidFill>
                            <a:srgbClr val="3B82F6"/>
                          </a:solidFill>
                          <a:latin typeface="Arial"/>
                        </a:rPr>
                        <a:t>20.8 / 17.7 / 15.6 dB</a:t>
                      </a:r>
                    </a:p>
                  </a:txBody>
                  <a:tcPr marL="82296" marR="82296" marT="45720" marB="45720" anchor="ctr">
                    <a:solidFill>
                      <a:srgbClr val="121C2F"/>
                    </a:solidFill>
                  </a:tcPr>
                </a:tc>
                <a:tc>
                  <a:txBody>
                    <a:bodyPr wrap="square"/>
                    <a:lstStyle/>
                    <a:p>
                      <a:pPr>
                        <a:lnSpc>
                          <a:spcPct val="108000"/>
                        </a:lnSpc>
                        <a:spcAft>
                          <a:spcPts val="0"/>
                        </a:spcAft>
                        <a:buNone/>
                      </a:pPr>
                      <a:r>
                        <a:rPr sz="1050">
                          <a:solidFill>
                            <a:srgbClr val="1FA971"/>
                          </a:solidFill>
                          <a:latin typeface="Arial"/>
                        </a:rPr>
                        <a:t>Non-blind Wiener deconvolution — kernel rebuilt from recorded size + angle</a:t>
                      </a:r>
                    </a:p>
                  </a:txBody>
                  <a:tcPr marL="82296" marR="82296" marT="45720" marB="45720" anchor="ctr">
                    <a:solidFill>
                      <a:srgbClr val="121C2F"/>
                    </a:solidFill>
                  </a:tcPr>
                </a:tc>
              </a:tr>
            </a:tbl>
          </a:graphicData>
        </a:graphic>
      </p:graphicFrame>
      <p:sp>
        <p:nvSpPr>
          <p:cNvPr id="6" name="TextBox 5"/>
          <p:cNvSpPr txBox="1"/>
          <p:nvPr/>
        </p:nvSpPr>
        <p:spPr>
          <a:xfrm>
            <a:off x="502920" y="5486400"/>
            <a:ext cx="6537960" cy="731520"/>
          </a:xfrm>
          <a:prstGeom prst="rect">
            <a:avLst/>
          </a:prstGeom>
          <a:noFill/>
        </p:spPr>
        <p:txBody>
          <a:bodyPr wrap="square" lIns="0" rIns="0" tIns="0" bIns="0" anchor="t">
            <a:spAutoFit/>
          </a:bodyPr>
          <a:lstStyle/>
          <a:p>
            <a:pPr algn="l">
              <a:lnSpc>
                <a:spcPct val="115000"/>
              </a:lnSpc>
              <a:buNone/>
            </a:pPr>
            <a:r>
              <a:rPr sz="1000" b="0" i="0">
                <a:solidFill>
                  <a:srgbClr val="6B7E9B"/>
                </a:solidFill>
                <a:latin typeface="Arial"/>
              </a:rPr>
              <a:t>Severities: low / medium / high. Recorded degradation parameters enable matched, non-blind restoration — no estimation from the corrupted image. All variants stored as lossless PNG.</a:t>
            </a:r>
          </a:p>
        </p:txBody>
      </p:sp>
      <p:sp>
        <p:nvSpPr>
          <p:cNvPr id="7" name="TextBox 6"/>
          <p:cNvSpPr txBox="1"/>
          <p:nvPr/>
        </p:nvSpPr>
        <p:spPr>
          <a:xfrm>
            <a:off x="7315200" y="1481328"/>
            <a:ext cx="1456944" cy="201168"/>
          </a:xfrm>
          <a:prstGeom prst="rect">
            <a:avLst/>
          </a:prstGeom>
          <a:noFill/>
        </p:spPr>
        <p:txBody>
          <a:bodyPr wrap="square" lIns="0" rIns="0" tIns="0" bIns="0" anchor="t">
            <a:spAutoFit/>
          </a:bodyPr>
          <a:lstStyle/>
          <a:p>
            <a:pPr algn="ctr">
              <a:lnSpc>
                <a:spcPct val="106000"/>
              </a:lnSpc>
              <a:buNone/>
            </a:pPr>
            <a:r>
              <a:rPr sz="950" b="1" i="0">
                <a:solidFill>
                  <a:srgbClr val="9AA7BD"/>
                </a:solidFill>
                <a:latin typeface="Arial"/>
              </a:rPr>
              <a:t>Clean</a:t>
            </a:r>
          </a:p>
        </p:txBody>
      </p:sp>
      <p:sp>
        <p:nvSpPr>
          <p:cNvPr id="8" name="TextBox 7"/>
          <p:cNvSpPr txBox="1"/>
          <p:nvPr/>
        </p:nvSpPr>
        <p:spPr>
          <a:xfrm>
            <a:off x="8772144" y="1481328"/>
            <a:ext cx="1456944" cy="201168"/>
          </a:xfrm>
          <a:prstGeom prst="rect">
            <a:avLst/>
          </a:prstGeom>
          <a:noFill/>
        </p:spPr>
        <p:txBody>
          <a:bodyPr wrap="square" lIns="0" rIns="0" tIns="0" bIns="0" anchor="t">
            <a:spAutoFit/>
          </a:bodyPr>
          <a:lstStyle/>
          <a:p>
            <a:pPr algn="ctr">
              <a:lnSpc>
                <a:spcPct val="106000"/>
              </a:lnSpc>
              <a:buNone/>
            </a:pPr>
            <a:r>
              <a:rPr sz="950" b="1" i="0">
                <a:solidFill>
                  <a:srgbClr val="3B82F6"/>
                </a:solidFill>
                <a:latin typeface="Arial"/>
              </a:rPr>
              <a:t>Distorted (high)</a:t>
            </a:r>
          </a:p>
        </p:txBody>
      </p:sp>
      <p:sp>
        <p:nvSpPr>
          <p:cNvPr id="9" name="TextBox 8"/>
          <p:cNvSpPr txBox="1"/>
          <p:nvPr/>
        </p:nvSpPr>
        <p:spPr>
          <a:xfrm>
            <a:off x="10229088" y="1481328"/>
            <a:ext cx="1456944" cy="201168"/>
          </a:xfrm>
          <a:prstGeom prst="rect">
            <a:avLst/>
          </a:prstGeom>
          <a:noFill/>
        </p:spPr>
        <p:txBody>
          <a:bodyPr wrap="square" lIns="0" rIns="0" tIns="0" bIns="0" anchor="t">
            <a:spAutoFit/>
          </a:bodyPr>
          <a:lstStyle/>
          <a:p>
            <a:pPr algn="ctr">
              <a:lnSpc>
                <a:spcPct val="106000"/>
              </a:lnSpc>
              <a:buNone/>
            </a:pPr>
            <a:r>
              <a:rPr sz="950" b="1" i="0">
                <a:solidFill>
                  <a:srgbClr val="1FA971"/>
                </a:solidFill>
                <a:latin typeface="Arial"/>
              </a:rPr>
              <a:t>Enhanced</a:t>
            </a:r>
          </a:p>
        </p:txBody>
      </p:sp>
      <p:sp>
        <p:nvSpPr>
          <p:cNvPr id="10" name="TextBox 9"/>
          <p:cNvSpPr txBox="1"/>
          <p:nvPr/>
        </p:nvSpPr>
        <p:spPr>
          <a:xfrm>
            <a:off x="7315200" y="1755648"/>
            <a:ext cx="4370832" cy="182880"/>
          </a:xfrm>
          <a:prstGeom prst="rect">
            <a:avLst/>
          </a:prstGeom>
          <a:noFill/>
        </p:spPr>
        <p:txBody>
          <a:bodyPr wrap="square" lIns="0" rIns="0" tIns="0" bIns="0" anchor="t">
            <a:spAutoFit/>
          </a:bodyPr>
          <a:lstStyle/>
          <a:p>
            <a:pPr algn="l">
              <a:lnSpc>
                <a:spcPct val="106000"/>
              </a:lnSpc>
              <a:buNone/>
            </a:pPr>
            <a:r>
              <a:rPr sz="950" b="1" i="0">
                <a:solidFill>
                  <a:srgbClr val="9DAFC8"/>
                </a:solidFill>
                <a:latin typeface="Arial"/>
              </a:rPr>
              <a:t>Gaussian noise → BM3D</a:t>
            </a:r>
          </a:p>
        </p:txBody>
      </p:sp>
      <p:sp>
        <p:nvSpPr>
          <p:cNvPr id="11" name="Rounded Rectangle 10"/>
          <p:cNvSpPr/>
          <p:nvPr/>
        </p:nvSpPr>
        <p:spPr>
          <a:xfrm>
            <a:off x="7260336" y="1938527"/>
            <a:ext cx="4480560" cy="1045465"/>
          </a:xfrm>
          <a:prstGeom prst="roundRect">
            <a:avLst>
              <a:gd name="adj" fmla="val 6122"/>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rip_gauss_1.png"/>
          <p:cNvPicPr>
            <a:picLocks noChangeAspect="1"/>
          </p:cNvPicPr>
          <p:nvPr/>
        </p:nvPicPr>
        <p:blipFill>
          <a:blip r:embed="rId2"/>
          <a:stretch>
            <a:fillRect/>
          </a:stretch>
        </p:blipFill>
        <p:spPr>
          <a:xfrm>
            <a:off x="7315200" y="1993391"/>
            <a:ext cx="4370832" cy="935737"/>
          </a:xfrm>
          <a:prstGeom prst="rect">
            <a:avLst/>
          </a:prstGeom>
        </p:spPr>
      </p:pic>
      <p:sp>
        <p:nvSpPr>
          <p:cNvPr id="13" name="TextBox 12"/>
          <p:cNvSpPr txBox="1"/>
          <p:nvPr/>
        </p:nvSpPr>
        <p:spPr>
          <a:xfrm>
            <a:off x="7315200" y="3203449"/>
            <a:ext cx="4370832" cy="182880"/>
          </a:xfrm>
          <a:prstGeom prst="rect">
            <a:avLst/>
          </a:prstGeom>
          <a:noFill/>
        </p:spPr>
        <p:txBody>
          <a:bodyPr wrap="square" lIns="0" rIns="0" tIns="0" bIns="0" anchor="t">
            <a:spAutoFit/>
          </a:bodyPr>
          <a:lstStyle/>
          <a:p>
            <a:pPr algn="l">
              <a:lnSpc>
                <a:spcPct val="106000"/>
              </a:lnSpc>
              <a:buNone/>
            </a:pPr>
            <a:r>
              <a:rPr sz="950" b="1" i="0">
                <a:solidFill>
                  <a:srgbClr val="9DAFC8"/>
                </a:solidFill>
                <a:latin typeface="Arial"/>
              </a:rPr>
              <a:t>Salt &amp; pepper → median 3×3</a:t>
            </a:r>
          </a:p>
        </p:txBody>
      </p:sp>
      <p:sp>
        <p:nvSpPr>
          <p:cNvPr id="14" name="Rounded Rectangle 13"/>
          <p:cNvSpPr/>
          <p:nvPr/>
        </p:nvSpPr>
        <p:spPr>
          <a:xfrm>
            <a:off x="7260336" y="3386329"/>
            <a:ext cx="4480560" cy="1167016"/>
          </a:xfrm>
          <a:prstGeom prst="roundRect">
            <a:avLst>
              <a:gd name="adj" fmla="val 5484"/>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trip_sp_2.png"/>
          <p:cNvPicPr>
            <a:picLocks noChangeAspect="1"/>
          </p:cNvPicPr>
          <p:nvPr/>
        </p:nvPicPr>
        <p:blipFill>
          <a:blip r:embed="rId3"/>
          <a:stretch>
            <a:fillRect/>
          </a:stretch>
        </p:blipFill>
        <p:spPr>
          <a:xfrm>
            <a:off x="7315200" y="3441193"/>
            <a:ext cx="4370832" cy="1057288"/>
          </a:xfrm>
          <a:prstGeom prst="rect">
            <a:avLst/>
          </a:prstGeom>
        </p:spPr>
      </p:pic>
      <p:sp>
        <p:nvSpPr>
          <p:cNvPr id="16" name="TextBox 15"/>
          <p:cNvSpPr txBox="1"/>
          <p:nvPr/>
        </p:nvSpPr>
        <p:spPr>
          <a:xfrm>
            <a:off x="7315200" y="4772802"/>
            <a:ext cx="4370832" cy="182880"/>
          </a:xfrm>
          <a:prstGeom prst="rect">
            <a:avLst/>
          </a:prstGeom>
          <a:noFill/>
        </p:spPr>
        <p:txBody>
          <a:bodyPr wrap="square" lIns="0" rIns="0" tIns="0" bIns="0" anchor="t">
            <a:spAutoFit/>
          </a:bodyPr>
          <a:lstStyle/>
          <a:p>
            <a:pPr algn="l">
              <a:lnSpc>
                <a:spcPct val="106000"/>
              </a:lnSpc>
              <a:buNone/>
            </a:pPr>
            <a:r>
              <a:rPr sz="950" b="1" i="0">
                <a:solidFill>
                  <a:srgbClr val="9DAFC8"/>
                </a:solidFill>
                <a:latin typeface="Arial"/>
              </a:rPr>
              <a:t>Motion blur → Wiener</a:t>
            </a:r>
          </a:p>
        </p:txBody>
      </p:sp>
      <p:sp>
        <p:nvSpPr>
          <p:cNvPr id="17" name="Rounded Rectangle 16"/>
          <p:cNvSpPr/>
          <p:nvPr/>
        </p:nvSpPr>
        <p:spPr>
          <a:xfrm>
            <a:off x="7260336" y="4955682"/>
            <a:ext cx="4480560" cy="1231892"/>
          </a:xfrm>
          <a:prstGeom prst="roundRect">
            <a:avLst>
              <a:gd name="adj" fmla="val 5195"/>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trip_blur_3.png"/>
          <p:cNvPicPr>
            <a:picLocks noChangeAspect="1"/>
          </p:cNvPicPr>
          <p:nvPr/>
        </p:nvPicPr>
        <p:blipFill>
          <a:blip r:embed="rId4"/>
          <a:stretch>
            <a:fillRect/>
          </a:stretch>
        </p:blipFill>
        <p:spPr>
          <a:xfrm>
            <a:off x="7315200" y="5010546"/>
            <a:ext cx="4370832" cy="11221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CLEAN BASELINES — PHASE 1</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Pretrained models on clean images — the reference for every cell</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6 / 14</a:t>
            </a:r>
          </a:p>
        </p:txBody>
      </p:sp>
      <p:sp>
        <p:nvSpPr>
          <p:cNvPr id="5" name="Rounded Rectangle 4"/>
          <p:cNvSpPr/>
          <p:nvPr/>
        </p:nvSpPr>
        <p:spPr>
          <a:xfrm>
            <a:off x="502920" y="1828800"/>
            <a:ext cx="2679192" cy="2834640"/>
          </a:xfrm>
          <a:prstGeom prst="roundRect">
            <a:avLst>
              <a:gd name="adj" fmla="val 2389"/>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2029968"/>
            <a:ext cx="2377440" cy="274320"/>
          </a:xfrm>
          <a:prstGeom prst="rect">
            <a:avLst/>
          </a:prstGeom>
          <a:noFill/>
        </p:spPr>
        <p:txBody>
          <a:bodyPr wrap="square" lIns="0" rIns="0" tIns="0" bIns="0" anchor="t">
            <a:spAutoFit/>
          </a:bodyPr>
          <a:lstStyle/>
          <a:p>
            <a:pPr algn="l">
              <a:lnSpc>
                <a:spcPct val="106000"/>
              </a:lnSpc>
              <a:buNone/>
            </a:pPr>
            <a:r>
              <a:rPr sz="1200" b="1" i="0">
                <a:solidFill>
                  <a:srgbClr val="EAF1FA"/>
                </a:solidFill>
                <a:latin typeface="Arial"/>
              </a:rPr>
              <a:t>Feature matching</a:t>
            </a:r>
          </a:p>
        </p:txBody>
      </p:sp>
      <p:sp>
        <p:nvSpPr>
          <p:cNvPr id="7" name="TextBox 6"/>
          <p:cNvSpPr txBox="1"/>
          <p:nvPr/>
        </p:nvSpPr>
        <p:spPr>
          <a:xfrm>
            <a:off x="667512" y="2313432"/>
            <a:ext cx="2377440" cy="274320"/>
          </a:xfrm>
          <a:prstGeom prst="rect">
            <a:avLst/>
          </a:prstGeom>
          <a:noFill/>
        </p:spPr>
        <p:txBody>
          <a:bodyPr wrap="square" lIns="0" rIns="0" tIns="0" bIns="0" anchor="t">
            <a:spAutoFit/>
          </a:bodyPr>
          <a:lstStyle/>
          <a:p>
            <a:pPr algn="l">
              <a:lnSpc>
                <a:spcPct val="106000"/>
              </a:lnSpc>
              <a:buNone/>
            </a:pPr>
            <a:r>
              <a:rPr sz="1000" b="0" i="0">
                <a:solidFill>
                  <a:srgbClr val="9DAFC8"/>
                </a:solidFill>
                <a:latin typeface="Arial"/>
              </a:rPr>
              <a:t>ORB match ratio</a:t>
            </a:r>
          </a:p>
        </p:txBody>
      </p:sp>
      <p:sp>
        <p:nvSpPr>
          <p:cNvPr id="8" name="TextBox 7"/>
          <p:cNvSpPr txBox="1"/>
          <p:nvPr/>
        </p:nvSpPr>
        <p:spPr>
          <a:xfrm>
            <a:off x="667512" y="2688336"/>
            <a:ext cx="2377440" cy="685800"/>
          </a:xfrm>
          <a:prstGeom prst="rect">
            <a:avLst/>
          </a:prstGeom>
          <a:noFill/>
        </p:spPr>
        <p:txBody>
          <a:bodyPr wrap="square" lIns="0" rIns="0" tIns="0" bIns="0" anchor="t">
            <a:spAutoFit/>
          </a:bodyPr>
          <a:lstStyle/>
          <a:p>
            <a:pPr algn="l">
              <a:lnSpc>
                <a:spcPct val="106000"/>
              </a:lnSpc>
              <a:buNone/>
            </a:pPr>
            <a:r>
              <a:rPr sz="3400" b="1" i="0">
                <a:solidFill>
                  <a:srgbClr val="3EC5FF"/>
                </a:solidFill>
                <a:latin typeface="Arial"/>
              </a:rPr>
              <a:t>1.000</a:t>
            </a:r>
          </a:p>
        </p:txBody>
      </p:sp>
      <p:sp>
        <p:nvSpPr>
          <p:cNvPr id="9" name="TextBox 8"/>
          <p:cNvSpPr txBox="1"/>
          <p:nvPr/>
        </p:nvSpPr>
        <p:spPr>
          <a:xfrm>
            <a:off x="667512" y="3749039"/>
            <a:ext cx="2377440" cy="777240"/>
          </a:xfrm>
          <a:prstGeom prst="rect">
            <a:avLst/>
          </a:prstGeom>
          <a:noFill/>
        </p:spPr>
        <p:txBody>
          <a:bodyPr wrap="square" lIns="0" rIns="0" tIns="0" bIns="0" anchor="t">
            <a:spAutoFit/>
          </a:bodyPr>
          <a:lstStyle/>
          <a:p>
            <a:pPr algn="l">
              <a:lnSpc>
                <a:spcPct val="112000"/>
              </a:lnSpc>
              <a:buNone/>
            </a:pPr>
            <a:r>
              <a:rPr sz="950" b="0" i="0">
                <a:solidFill>
                  <a:srgbClr val="9DAFC8"/>
                </a:solidFill>
                <a:latin typeface="Arial"/>
              </a:rPr>
              <a:t>by construction — each clean image is matched to itself</a:t>
            </a:r>
          </a:p>
        </p:txBody>
      </p:sp>
      <p:sp>
        <p:nvSpPr>
          <p:cNvPr id="10" name="Rounded Rectangle 9"/>
          <p:cNvSpPr/>
          <p:nvPr/>
        </p:nvSpPr>
        <p:spPr>
          <a:xfrm>
            <a:off x="3364991" y="1828800"/>
            <a:ext cx="2679192" cy="2834640"/>
          </a:xfrm>
          <a:prstGeom prst="roundRect">
            <a:avLst>
              <a:gd name="adj" fmla="val 2389"/>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9584" y="2029968"/>
            <a:ext cx="2377440" cy="274320"/>
          </a:xfrm>
          <a:prstGeom prst="rect">
            <a:avLst/>
          </a:prstGeom>
          <a:noFill/>
        </p:spPr>
        <p:txBody>
          <a:bodyPr wrap="square" lIns="0" rIns="0" tIns="0" bIns="0" anchor="t">
            <a:spAutoFit/>
          </a:bodyPr>
          <a:lstStyle/>
          <a:p>
            <a:pPr algn="l">
              <a:lnSpc>
                <a:spcPct val="106000"/>
              </a:lnSpc>
              <a:buNone/>
            </a:pPr>
            <a:r>
              <a:rPr sz="1200" b="1" i="0">
                <a:solidFill>
                  <a:srgbClr val="EAF1FA"/>
                </a:solidFill>
                <a:latin typeface="Arial"/>
              </a:rPr>
              <a:t>Object detection</a:t>
            </a:r>
          </a:p>
        </p:txBody>
      </p:sp>
      <p:sp>
        <p:nvSpPr>
          <p:cNvPr id="12" name="TextBox 11"/>
          <p:cNvSpPr txBox="1"/>
          <p:nvPr/>
        </p:nvSpPr>
        <p:spPr>
          <a:xfrm>
            <a:off x="3529584" y="2313432"/>
            <a:ext cx="2377440" cy="274320"/>
          </a:xfrm>
          <a:prstGeom prst="rect">
            <a:avLst/>
          </a:prstGeom>
          <a:noFill/>
        </p:spPr>
        <p:txBody>
          <a:bodyPr wrap="square" lIns="0" rIns="0" tIns="0" bIns="0" anchor="t">
            <a:spAutoFit/>
          </a:bodyPr>
          <a:lstStyle/>
          <a:p>
            <a:pPr algn="l">
              <a:lnSpc>
                <a:spcPct val="106000"/>
              </a:lnSpc>
              <a:buNone/>
            </a:pPr>
            <a:r>
              <a:rPr sz="1000" b="0" i="0">
                <a:solidFill>
                  <a:srgbClr val="9DAFC8"/>
                </a:solidFill>
                <a:latin typeface="Arial"/>
              </a:rPr>
              <a:t>YOLOv8n · mAP@[.5:.95]</a:t>
            </a:r>
          </a:p>
        </p:txBody>
      </p:sp>
      <p:sp>
        <p:nvSpPr>
          <p:cNvPr id="13" name="TextBox 12"/>
          <p:cNvSpPr txBox="1"/>
          <p:nvPr/>
        </p:nvSpPr>
        <p:spPr>
          <a:xfrm>
            <a:off x="3529584" y="2688336"/>
            <a:ext cx="2377440" cy="685800"/>
          </a:xfrm>
          <a:prstGeom prst="rect">
            <a:avLst/>
          </a:prstGeom>
          <a:noFill/>
        </p:spPr>
        <p:txBody>
          <a:bodyPr wrap="square" lIns="0" rIns="0" tIns="0" bIns="0" anchor="t">
            <a:spAutoFit/>
          </a:bodyPr>
          <a:lstStyle/>
          <a:p>
            <a:pPr algn="l">
              <a:lnSpc>
                <a:spcPct val="106000"/>
              </a:lnSpc>
              <a:buNone/>
            </a:pPr>
            <a:r>
              <a:rPr sz="3400" b="1" i="0">
                <a:solidFill>
                  <a:srgbClr val="3EC5FF"/>
                </a:solidFill>
                <a:latin typeface="Arial"/>
              </a:rPr>
              <a:t>0.352</a:t>
            </a:r>
          </a:p>
        </p:txBody>
      </p:sp>
      <p:sp>
        <p:nvSpPr>
          <p:cNvPr id="14" name="TextBox 13"/>
          <p:cNvSpPr txBox="1"/>
          <p:nvPr/>
        </p:nvSpPr>
        <p:spPr>
          <a:xfrm>
            <a:off x="3529584" y="3438144"/>
            <a:ext cx="2377440" cy="256032"/>
          </a:xfrm>
          <a:prstGeom prst="rect">
            <a:avLst/>
          </a:prstGeom>
          <a:noFill/>
        </p:spPr>
        <p:txBody>
          <a:bodyPr wrap="square" lIns="0" rIns="0" tIns="0" bIns="0" anchor="t">
            <a:spAutoFit/>
          </a:bodyPr>
          <a:lstStyle/>
          <a:p>
            <a:pPr algn="l">
              <a:lnSpc>
                <a:spcPct val="106000"/>
              </a:lnSpc>
              <a:buNone/>
            </a:pPr>
            <a:r>
              <a:rPr sz="1100" b="1" i="0">
                <a:solidFill>
                  <a:srgbClr val="9AA7BD"/>
                </a:solidFill>
                <a:latin typeface="Arial"/>
              </a:rPr>
              <a:t>Δ −0.021</a:t>
            </a:r>
          </a:p>
        </p:txBody>
      </p:sp>
      <p:sp>
        <p:nvSpPr>
          <p:cNvPr id="15" name="TextBox 14"/>
          <p:cNvSpPr txBox="1"/>
          <p:nvPr/>
        </p:nvSpPr>
        <p:spPr>
          <a:xfrm>
            <a:off x="3529584" y="3749039"/>
            <a:ext cx="2377440" cy="777240"/>
          </a:xfrm>
          <a:prstGeom prst="rect">
            <a:avLst/>
          </a:prstGeom>
          <a:noFill/>
        </p:spPr>
        <p:txBody>
          <a:bodyPr wrap="square" lIns="0" rIns="0" tIns="0" bIns="0" anchor="t">
            <a:spAutoFit/>
          </a:bodyPr>
          <a:lstStyle/>
          <a:p>
            <a:pPr algn="l">
              <a:lnSpc>
                <a:spcPct val="112000"/>
              </a:lnSpc>
              <a:buNone/>
            </a:pPr>
            <a:r>
              <a:rPr sz="950" b="0" i="0">
                <a:solidFill>
                  <a:srgbClr val="9DAFC8"/>
                </a:solidFill>
                <a:latin typeface="Arial"/>
              </a:rPr>
              <a:t>published full val2017 ≈ 0.373</a:t>
            </a:r>
          </a:p>
        </p:txBody>
      </p:sp>
      <p:sp>
        <p:nvSpPr>
          <p:cNvPr id="16" name="Rounded Rectangle 15"/>
          <p:cNvSpPr/>
          <p:nvPr/>
        </p:nvSpPr>
        <p:spPr>
          <a:xfrm>
            <a:off x="6227064" y="1828800"/>
            <a:ext cx="2679192" cy="2834640"/>
          </a:xfrm>
          <a:prstGeom prst="roundRect">
            <a:avLst>
              <a:gd name="adj" fmla="val 2389"/>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5" y="2029968"/>
            <a:ext cx="2377440" cy="274320"/>
          </a:xfrm>
          <a:prstGeom prst="rect">
            <a:avLst/>
          </a:prstGeom>
          <a:noFill/>
        </p:spPr>
        <p:txBody>
          <a:bodyPr wrap="square" lIns="0" rIns="0" tIns="0" bIns="0" anchor="t">
            <a:spAutoFit/>
          </a:bodyPr>
          <a:lstStyle/>
          <a:p>
            <a:pPr algn="l">
              <a:lnSpc>
                <a:spcPct val="106000"/>
              </a:lnSpc>
              <a:buNone/>
            </a:pPr>
            <a:r>
              <a:rPr sz="1200" b="1" i="0">
                <a:solidFill>
                  <a:srgbClr val="EAF1FA"/>
                </a:solidFill>
                <a:latin typeface="Arial"/>
              </a:rPr>
              <a:t>Keypoint detection</a:t>
            </a:r>
          </a:p>
        </p:txBody>
      </p:sp>
      <p:sp>
        <p:nvSpPr>
          <p:cNvPr id="18" name="TextBox 17"/>
          <p:cNvSpPr txBox="1"/>
          <p:nvPr/>
        </p:nvSpPr>
        <p:spPr>
          <a:xfrm>
            <a:off x="6391655" y="2313432"/>
            <a:ext cx="2377440" cy="274320"/>
          </a:xfrm>
          <a:prstGeom prst="rect">
            <a:avLst/>
          </a:prstGeom>
          <a:noFill/>
        </p:spPr>
        <p:txBody>
          <a:bodyPr wrap="square" lIns="0" rIns="0" tIns="0" bIns="0" anchor="t">
            <a:spAutoFit/>
          </a:bodyPr>
          <a:lstStyle/>
          <a:p>
            <a:pPr algn="l">
              <a:lnSpc>
                <a:spcPct val="106000"/>
              </a:lnSpc>
              <a:buNone/>
            </a:pPr>
            <a:r>
              <a:rPr sz="1000" b="0" i="0">
                <a:solidFill>
                  <a:srgbClr val="9DAFC8"/>
                </a:solidFill>
                <a:latin typeface="Arial"/>
              </a:rPr>
              <a:t>Keypoint R-CNN · OKS AP</a:t>
            </a:r>
          </a:p>
        </p:txBody>
      </p:sp>
      <p:sp>
        <p:nvSpPr>
          <p:cNvPr id="19" name="TextBox 18"/>
          <p:cNvSpPr txBox="1"/>
          <p:nvPr/>
        </p:nvSpPr>
        <p:spPr>
          <a:xfrm>
            <a:off x="6391655" y="2688336"/>
            <a:ext cx="2377440" cy="685800"/>
          </a:xfrm>
          <a:prstGeom prst="rect">
            <a:avLst/>
          </a:prstGeom>
          <a:noFill/>
        </p:spPr>
        <p:txBody>
          <a:bodyPr wrap="square" lIns="0" rIns="0" tIns="0" bIns="0" anchor="t">
            <a:spAutoFit/>
          </a:bodyPr>
          <a:lstStyle/>
          <a:p>
            <a:pPr algn="l">
              <a:lnSpc>
                <a:spcPct val="106000"/>
              </a:lnSpc>
              <a:buNone/>
            </a:pPr>
            <a:r>
              <a:rPr sz="3400" b="1" i="0">
                <a:solidFill>
                  <a:srgbClr val="3EC5FF"/>
                </a:solidFill>
                <a:latin typeface="Arial"/>
              </a:rPr>
              <a:t>0.657</a:t>
            </a:r>
          </a:p>
        </p:txBody>
      </p:sp>
      <p:sp>
        <p:nvSpPr>
          <p:cNvPr id="20" name="TextBox 19"/>
          <p:cNvSpPr txBox="1"/>
          <p:nvPr/>
        </p:nvSpPr>
        <p:spPr>
          <a:xfrm>
            <a:off x="6391655" y="3438144"/>
            <a:ext cx="2377440" cy="256032"/>
          </a:xfrm>
          <a:prstGeom prst="rect">
            <a:avLst/>
          </a:prstGeom>
          <a:noFill/>
        </p:spPr>
        <p:txBody>
          <a:bodyPr wrap="square" lIns="0" rIns="0" tIns="0" bIns="0" anchor="t">
            <a:spAutoFit/>
          </a:bodyPr>
          <a:lstStyle/>
          <a:p>
            <a:pPr algn="l">
              <a:lnSpc>
                <a:spcPct val="106000"/>
              </a:lnSpc>
              <a:buNone/>
            </a:pPr>
            <a:r>
              <a:rPr sz="1100" b="1" i="0">
                <a:solidFill>
                  <a:srgbClr val="9AA7BD"/>
                </a:solidFill>
                <a:latin typeface="Arial"/>
              </a:rPr>
              <a:t>Δ +0.007</a:t>
            </a:r>
          </a:p>
        </p:txBody>
      </p:sp>
      <p:sp>
        <p:nvSpPr>
          <p:cNvPr id="21" name="TextBox 20"/>
          <p:cNvSpPr txBox="1"/>
          <p:nvPr/>
        </p:nvSpPr>
        <p:spPr>
          <a:xfrm>
            <a:off x="6391655" y="3749039"/>
            <a:ext cx="2377440" cy="777240"/>
          </a:xfrm>
          <a:prstGeom prst="rect">
            <a:avLst/>
          </a:prstGeom>
          <a:noFill/>
        </p:spPr>
        <p:txBody>
          <a:bodyPr wrap="square" lIns="0" rIns="0" tIns="0" bIns="0" anchor="t">
            <a:spAutoFit/>
          </a:bodyPr>
          <a:lstStyle/>
          <a:p>
            <a:pPr algn="l">
              <a:lnSpc>
                <a:spcPct val="112000"/>
              </a:lnSpc>
              <a:buNone/>
            </a:pPr>
            <a:r>
              <a:rPr sz="950" b="0" i="0">
                <a:solidFill>
                  <a:srgbClr val="9DAFC8"/>
                </a:solidFill>
                <a:latin typeface="Arial"/>
              </a:rPr>
              <a:t>published full val2017 ≈ 0.650</a:t>
            </a:r>
          </a:p>
        </p:txBody>
      </p:sp>
      <p:sp>
        <p:nvSpPr>
          <p:cNvPr id="22" name="Rounded Rectangle 21"/>
          <p:cNvSpPr/>
          <p:nvPr/>
        </p:nvSpPr>
        <p:spPr>
          <a:xfrm>
            <a:off x="9089136" y="1828800"/>
            <a:ext cx="2679192" cy="2834640"/>
          </a:xfrm>
          <a:prstGeom prst="roundRect">
            <a:avLst>
              <a:gd name="adj" fmla="val 2389"/>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3728" y="2029968"/>
            <a:ext cx="2377440" cy="274320"/>
          </a:xfrm>
          <a:prstGeom prst="rect">
            <a:avLst/>
          </a:prstGeom>
          <a:noFill/>
        </p:spPr>
        <p:txBody>
          <a:bodyPr wrap="square" lIns="0" rIns="0" tIns="0" bIns="0" anchor="t">
            <a:spAutoFit/>
          </a:bodyPr>
          <a:lstStyle/>
          <a:p>
            <a:pPr algn="l">
              <a:lnSpc>
                <a:spcPct val="106000"/>
              </a:lnSpc>
              <a:buNone/>
            </a:pPr>
            <a:r>
              <a:rPr sz="1200" b="1" i="0">
                <a:solidFill>
                  <a:srgbClr val="EAF1FA"/>
                </a:solidFill>
                <a:latin typeface="Arial"/>
              </a:rPr>
              <a:t>Panoptic segmentation</a:t>
            </a:r>
          </a:p>
        </p:txBody>
      </p:sp>
      <p:sp>
        <p:nvSpPr>
          <p:cNvPr id="24" name="TextBox 23"/>
          <p:cNvSpPr txBox="1"/>
          <p:nvPr/>
        </p:nvSpPr>
        <p:spPr>
          <a:xfrm>
            <a:off x="9253728" y="2313432"/>
            <a:ext cx="2377440" cy="274320"/>
          </a:xfrm>
          <a:prstGeom prst="rect">
            <a:avLst/>
          </a:prstGeom>
          <a:noFill/>
        </p:spPr>
        <p:txBody>
          <a:bodyPr wrap="square" lIns="0" rIns="0" tIns="0" bIns="0" anchor="t">
            <a:spAutoFit/>
          </a:bodyPr>
          <a:lstStyle/>
          <a:p>
            <a:pPr algn="l">
              <a:lnSpc>
                <a:spcPct val="106000"/>
              </a:lnSpc>
              <a:buNone/>
            </a:pPr>
            <a:r>
              <a:rPr sz="1000" b="0" i="0">
                <a:solidFill>
                  <a:srgbClr val="9DAFC8"/>
                </a:solidFill>
                <a:latin typeface="Arial"/>
              </a:rPr>
              <a:t>Panoptic FPN · PQ</a:t>
            </a:r>
          </a:p>
        </p:txBody>
      </p:sp>
      <p:sp>
        <p:nvSpPr>
          <p:cNvPr id="25" name="TextBox 24"/>
          <p:cNvSpPr txBox="1"/>
          <p:nvPr/>
        </p:nvSpPr>
        <p:spPr>
          <a:xfrm>
            <a:off x="9253728" y="2688336"/>
            <a:ext cx="2377440" cy="685800"/>
          </a:xfrm>
          <a:prstGeom prst="rect">
            <a:avLst/>
          </a:prstGeom>
          <a:noFill/>
        </p:spPr>
        <p:txBody>
          <a:bodyPr wrap="square" lIns="0" rIns="0" tIns="0" bIns="0" anchor="t">
            <a:spAutoFit/>
          </a:bodyPr>
          <a:lstStyle/>
          <a:p>
            <a:pPr algn="l">
              <a:lnSpc>
                <a:spcPct val="106000"/>
              </a:lnSpc>
              <a:buNone/>
            </a:pPr>
            <a:r>
              <a:rPr sz="3400" b="1" i="0">
                <a:solidFill>
                  <a:srgbClr val="3EC5FF"/>
                </a:solidFill>
                <a:latin typeface="Arial"/>
              </a:rPr>
              <a:t>0.410</a:t>
            </a:r>
          </a:p>
        </p:txBody>
      </p:sp>
      <p:sp>
        <p:nvSpPr>
          <p:cNvPr id="26" name="TextBox 25"/>
          <p:cNvSpPr txBox="1"/>
          <p:nvPr/>
        </p:nvSpPr>
        <p:spPr>
          <a:xfrm>
            <a:off x="9253728" y="3438144"/>
            <a:ext cx="2377440" cy="256032"/>
          </a:xfrm>
          <a:prstGeom prst="rect">
            <a:avLst/>
          </a:prstGeom>
          <a:noFill/>
        </p:spPr>
        <p:txBody>
          <a:bodyPr wrap="square" lIns="0" rIns="0" tIns="0" bIns="0" anchor="t">
            <a:spAutoFit/>
          </a:bodyPr>
          <a:lstStyle/>
          <a:p>
            <a:pPr algn="l">
              <a:lnSpc>
                <a:spcPct val="106000"/>
              </a:lnSpc>
              <a:buNone/>
            </a:pPr>
            <a:r>
              <a:rPr sz="1100" b="1" i="0">
                <a:solidFill>
                  <a:srgbClr val="9AA7BD"/>
                </a:solidFill>
                <a:latin typeface="Arial"/>
              </a:rPr>
              <a:t>Δ −0.005</a:t>
            </a:r>
          </a:p>
        </p:txBody>
      </p:sp>
      <p:sp>
        <p:nvSpPr>
          <p:cNvPr id="27" name="TextBox 26"/>
          <p:cNvSpPr txBox="1"/>
          <p:nvPr/>
        </p:nvSpPr>
        <p:spPr>
          <a:xfrm>
            <a:off x="9253728" y="3749039"/>
            <a:ext cx="2377440" cy="777240"/>
          </a:xfrm>
          <a:prstGeom prst="rect">
            <a:avLst/>
          </a:prstGeom>
          <a:noFill/>
        </p:spPr>
        <p:txBody>
          <a:bodyPr wrap="square" lIns="0" rIns="0" tIns="0" bIns="0" anchor="t">
            <a:spAutoFit/>
          </a:bodyPr>
          <a:lstStyle/>
          <a:p>
            <a:pPr algn="l">
              <a:lnSpc>
                <a:spcPct val="112000"/>
              </a:lnSpc>
              <a:buNone/>
            </a:pPr>
            <a:r>
              <a:rPr sz="950" b="0" i="0">
                <a:solidFill>
                  <a:srgbClr val="9DAFC8"/>
                </a:solidFill>
                <a:latin typeface="Arial"/>
              </a:rPr>
              <a:t>published ≈ 0.415 · SQ 0.775 · RQ 0.500</a:t>
            </a:r>
          </a:p>
        </p:txBody>
      </p:sp>
      <p:sp>
        <p:nvSpPr>
          <p:cNvPr id="28" name="Rounded Rectangle 27"/>
          <p:cNvSpPr/>
          <p:nvPr/>
        </p:nvSpPr>
        <p:spPr>
          <a:xfrm>
            <a:off x="502920" y="5120640"/>
            <a:ext cx="11183112" cy="1234440"/>
          </a:xfrm>
          <a:prstGeom prst="roundRect">
            <a:avLst>
              <a:gd name="adj" fmla="val 5185"/>
            </a:avLst>
          </a:prstGeom>
          <a:solidFill>
            <a:srgbClr val="0F1830"/>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120640"/>
            <a:ext cx="10607040" cy="1234440"/>
          </a:xfrm>
          <a:prstGeom prst="rect">
            <a:avLst/>
          </a:prstGeom>
          <a:noFill/>
        </p:spPr>
        <p:txBody>
          <a:bodyPr wrap="square" lIns="0" rIns="0" tIns="0" bIns="0" anchor="ctr">
            <a:spAutoFit/>
          </a:bodyPr>
          <a:lstStyle/>
          <a:p>
            <a:pPr algn="l">
              <a:lnSpc>
                <a:spcPct val="120000"/>
              </a:lnSpc>
              <a:spcAft>
                <a:spcPts val="0"/>
              </a:spcAft>
              <a:buNone/>
            </a:pPr>
            <a:r>
              <a:rPr sz="1200" b="1" i="0">
                <a:solidFill>
                  <a:srgbClr val="EAF1FA"/>
                </a:solidFill>
                <a:latin typeface="Arial"/>
              </a:rPr>
              <a:t>Sanity check, not benchmark replication.  </a:t>
            </a:r>
            <a:r>
              <a:rPr sz="1200" b="0" i="0">
                <a:solidFill>
                  <a:srgbClr val="9DAFC8"/>
                </a:solidFill>
                <a:latin typeface="Arial"/>
              </a:rPr>
              <a:t>Published scores use the full 5,000-image val2017; ours use the 1,521-image subset. Differences of −0.021 to +0.007 indicate no issue in annotation handling, format conversion, or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RESULTS — DEGRADATION &amp; RECOVERY</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Enhancement recovers ground in every one of the 36 cells</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7 / 14</a:t>
            </a:r>
          </a:p>
        </p:txBody>
      </p:sp>
      <p:sp>
        <p:nvSpPr>
          <p:cNvPr id="5" name="TextBox 4"/>
          <p:cNvSpPr txBox="1"/>
          <p:nvPr/>
        </p:nvSpPr>
        <p:spPr>
          <a:xfrm>
            <a:off x="502920" y="1389888"/>
            <a:ext cx="6217920" cy="274320"/>
          </a:xfrm>
          <a:prstGeom prst="rect">
            <a:avLst/>
          </a:prstGeom>
          <a:noFill/>
        </p:spPr>
        <p:txBody>
          <a:bodyPr wrap="square" lIns="0" rIns="0" tIns="0" bIns="0" anchor="t">
            <a:spAutoFit/>
          </a:bodyPr>
          <a:lstStyle/>
          <a:p>
            <a:pPr algn="l">
              <a:lnSpc>
                <a:spcPct val="100000"/>
              </a:lnSpc>
              <a:spcAft>
                <a:spcPts val="0"/>
              </a:spcAft>
              <a:buNone/>
            </a:pPr>
            <a:r>
              <a:rPr sz="1150" b="0" i="0">
                <a:solidFill>
                  <a:srgbClr val="3B82F6"/>
                </a:solidFill>
                <a:latin typeface="Arial"/>
              </a:rPr>
              <a:t>■ </a:t>
            </a:r>
            <a:r>
              <a:rPr sz="1150" b="0" i="0">
                <a:solidFill>
                  <a:srgbClr val="9DAFC8"/>
                </a:solidFill>
                <a:latin typeface="Arial"/>
              </a:rPr>
              <a:t>distorted     </a:t>
            </a:r>
            <a:r>
              <a:rPr sz="1150" b="0" i="0">
                <a:solidFill>
                  <a:srgbClr val="1FA971"/>
                </a:solidFill>
                <a:latin typeface="Arial"/>
              </a:rPr>
              <a:t>■ </a:t>
            </a:r>
            <a:r>
              <a:rPr sz="1150" b="0" i="0">
                <a:solidFill>
                  <a:srgbClr val="9DAFC8"/>
                </a:solidFill>
                <a:latin typeface="Arial"/>
              </a:rPr>
              <a:t>enhanced     </a:t>
            </a:r>
            <a:r>
              <a:rPr sz="1150" b="0" i="0">
                <a:solidFill>
                  <a:srgbClr val="F0A422"/>
                </a:solidFill>
                <a:latin typeface="Arial"/>
              </a:rPr>
              <a:t>■ </a:t>
            </a:r>
            <a:r>
              <a:rPr sz="1150" b="0" i="0">
                <a:solidFill>
                  <a:srgbClr val="9DAFC8"/>
                </a:solidFill>
                <a:latin typeface="Arial"/>
              </a:rPr>
              <a:t>fine-tuned (detection only)</a:t>
            </a:r>
          </a:p>
        </p:txBody>
      </p:sp>
      <p:sp>
        <p:nvSpPr>
          <p:cNvPr id="6" name="TextBox 5"/>
          <p:cNvSpPr txBox="1"/>
          <p:nvPr/>
        </p:nvSpPr>
        <p:spPr>
          <a:xfrm>
            <a:off x="502920" y="1682496"/>
            <a:ext cx="6217920" cy="237744"/>
          </a:xfrm>
          <a:prstGeom prst="rect">
            <a:avLst/>
          </a:prstGeom>
          <a:noFill/>
        </p:spPr>
        <p:txBody>
          <a:bodyPr wrap="square" lIns="0" rIns="0" tIns="0" bIns="0" anchor="t">
            <a:spAutoFit/>
          </a:bodyPr>
          <a:lstStyle/>
          <a:p>
            <a:pPr algn="l">
              <a:lnSpc>
                <a:spcPct val="106000"/>
              </a:lnSpc>
              <a:buNone/>
            </a:pPr>
            <a:r>
              <a:rPr sz="1000" b="0" i="0">
                <a:solidFill>
                  <a:srgbClr val="6B7E9B"/>
                </a:solidFill>
                <a:latin typeface="Arial"/>
              </a:rPr>
              <a:t>dashed line = clean baseline · bar labels = share of damage recovered</a:t>
            </a:r>
          </a:p>
        </p:txBody>
      </p:sp>
      <p:sp>
        <p:nvSpPr>
          <p:cNvPr id="7" name="TextBox 6"/>
          <p:cNvSpPr txBox="1"/>
          <p:nvPr/>
        </p:nvSpPr>
        <p:spPr>
          <a:xfrm>
            <a:off x="502920" y="2121408"/>
            <a:ext cx="6172200" cy="2377440"/>
          </a:xfrm>
          <a:prstGeom prst="rect">
            <a:avLst/>
          </a:prstGeom>
          <a:noFill/>
        </p:spPr>
        <p:txBody>
          <a:bodyPr wrap="square" lIns="0" rIns="0" tIns="0" bIns="0" anchor="t">
            <a:spAutoFit/>
          </a:bodyPr>
          <a:lstStyle/>
          <a:p>
            <a:pPr algn="l" marL="171450" indent="-171450">
              <a:lnSpc>
                <a:spcPct val="106000"/>
              </a:lnSpc>
              <a:spcAft>
                <a:spcPts val="1000"/>
              </a:spcAft>
              <a:buFont typeface="Arial"/>
              <a:buChar char="•"/>
            </a:pPr>
            <a:r>
              <a:rPr sz="1300" b="0" i="0">
                <a:solidFill>
                  <a:srgbClr val="EAF1FA"/>
                </a:solidFill>
                <a:latin typeface="Arial"/>
              </a:rPr>
              <a:t>Corruption hurts every task, and more severity hurts more — detection falls as far as −0.293 mAP (motion blur, high).</a:t>
            </a:r>
          </a:p>
          <a:p>
            <a:pPr algn="l" marL="171450" indent="-171450">
              <a:lnSpc>
                <a:spcPct val="106000"/>
              </a:lnSpc>
              <a:spcAft>
                <a:spcPts val="1000"/>
              </a:spcAft>
              <a:buFont typeface="Arial"/>
              <a:buChar char="•"/>
            </a:pPr>
            <a:r>
              <a:rPr sz="1300" b="0" i="0">
                <a:solidFill>
                  <a:srgbClr val="EAF1FA"/>
                </a:solidFill>
                <a:latin typeface="Arial"/>
              </a:rPr>
              <a:t>Classical enhancement improves the raw distorted score in all 36 task × corruption × severity cells.</a:t>
            </a:r>
          </a:p>
          <a:p>
            <a:pPr algn="l" marL="171450" indent="-171450">
              <a:lnSpc>
                <a:spcPct val="106000"/>
              </a:lnSpc>
              <a:spcAft>
                <a:spcPts val="1000"/>
              </a:spcAft>
              <a:buFont typeface="Arial"/>
              <a:buChar char="•"/>
            </a:pPr>
            <a:r>
              <a:rPr sz="1300" b="0" i="0">
                <a:solidFill>
                  <a:srgbClr val="EAF1FA"/>
                </a:solidFill>
                <a:latin typeface="Arial"/>
              </a:rPr>
              <a:t>For detection, enhancement is the best standalone repair in all 9 cells — ahead of fine-tuning alone.</a:t>
            </a:r>
          </a:p>
          <a:p>
            <a:pPr algn="l" marL="171450" indent="-171450">
              <a:lnSpc>
                <a:spcPct val="106000"/>
              </a:lnSpc>
              <a:spcAft>
                <a:spcPts val="1000"/>
              </a:spcAft>
              <a:buFont typeface="Arial"/>
              <a:buChar char="•"/>
            </a:pPr>
            <a:r>
              <a:rPr sz="1300" b="0" i="0">
                <a:solidFill>
                  <a:srgbClr val="EAF1FA"/>
                </a:solidFill>
                <a:latin typeface="Arial"/>
              </a:rPr>
              <a:t>Recovery is largest for salt &amp; pepper (up to +91% of the damage), smallest for heavy motion blur.</a:t>
            </a:r>
          </a:p>
        </p:txBody>
      </p:sp>
      <p:sp>
        <p:nvSpPr>
          <p:cNvPr id="8" name="Rounded Rectangle 7"/>
          <p:cNvSpPr/>
          <p:nvPr/>
        </p:nvSpPr>
        <p:spPr>
          <a:xfrm>
            <a:off x="502920" y="4800600"/>
            <a:ext cx="2971800" cy="1325880"/>
          </a:xfrm>
          <a:prstGeom prst="roundRect">
            <a:avLst>
              <a:gd name="adj" fmla="val 4827"/>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4937760"/>
            <a:ext cx="2651760" cy="457200"/>
          </a:xfrm>
          <a:prstGeom prst="rect">
            <a:avLst/>
          </a:prstGeom>
          <a:noFill/>
        </p:spPr>
        <p:txBody>
          <a:bodyPr wrap="square" lIns="0" rIns="0" tIns="0" bIns="0" anchor="t">
            <a:spAutoFit/>
          </a:bodyPr>
          <a:lstStyle/>
          <a:p>
            <a:pPr algn="l">
              <a:lnSpc>
                <a:spcPct val="106000"/>
              </a:lnSpc>
              <a:buNone/>
            </a:pPr>
            <a:r>
              <a:rPr sz="2300" b="1" i="0">
                <a:solidFill>
                  <a:srgbClr val="1FA971"/>
                </a:solidFill>
                <a:latin typeface="Arial"/>
              </a:rPr>
              <a:t>36 / 36</a:t>
            </a:r>
          </a:p>
        </p:txBody>
      </p:sp>
      <p:sp>
        <p:nvSpPr>
          <p:cNvPr id="10" name="TextBox 9"/>
          <p:cNvSpPr txBox="1"/>
          <p:nvPr/>
        </p:nvSpPr>
        <p:spPr>
          <a:xfrm>
            <a:off x="667512" y="5440680"/>
            <a:ext cx="2697480" cy="594360"/>
          </a:xfrm>
          <a:prstGeom prst="rect">
            <a:avLst/>
          </a:prstGeom>
          <a:noFill/>
        </p:spPr>
        <p:txBody>
          <a:bodyPr wrap="square" lIns="0" rIns="0" tIns="0" bIns="0" anchor="t">
            <a:spAutoFit/>
          </a:bodyPr>
          <a:lstStyle/>
          <a:p>
            <a:pPr algn="l">
              <a:lnSpc>
                <a:spcPct val="110000"/>
              </a:lnSpc>
              <a:buNone/>
            </a:pPr>
            <a:r>
              <a:rPr sz="1000" b="0" i="0">
                <a:solidFill>
                  <a:srgbClr val="9DAFC8"/>
                </a:solidFill>
                <a:latin typeface="Arial"/>
              </a:rPr>
              <a:t>cells improved by classical enhancement</a:t>
            </a:r>
          </a:p>
        </p:txBody>
      </p:sp>
      <p:sp>
        <p:nvSpPr>
          <p:cNvPr id="11" name="Rounded Rectangle 10"/>
          <p:cNvSpPr/>
          <p:nvPr/>
        </p:nvSpPr>
        <p:spPr>
          <a:xfrm>
            <a:off x="3657600" y="4800600"/>
            <a:ext cx="2971800" cy="1325880"/>
          </a:xfrm>
          <a:prstGeom prst="roundRect">
            <a:avLst>
              <a:gd name="adj" fmla="val 4827"/>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22191" y="4937760"/>
            <a:ext cx="2651760" cy="457200"/>
          </a:xfrm>
          <a:prstGeom prst="rect">
            <a:avLst/>
          </a:prstGeom>
          <a:noFill/>
        </p:spPr>
        <p:txBody>
          <a:bodyPr wrap="square" lIns="0" rIns="0" tIns="0" bIns="0" anchor="t">
            <a:spAutoFit/>
          </a:bodyPr>
          <a:lstStyle/>
          <a:p>
            <a:pPr algn="l">
              <a:lnSpc>
                <a:spcPct val="106000"/>
              </a:lnSpc>
              <a:buNone/>
            </a:pPr>
            <a:r>
              <a:rPr sz="2300" b="1" i="0">
                <a:solidFill>
                  <a:srgbClr val="1FA971"/>
                </a:solidFill>
                <a:latin typeface="Arial"/>
              </a:rPr>
              <a:t>9 / 9</a:t>
            </a:r>
          </a:p>
        </p:txBody>
      </p:sp>
      <p:sp>
        <p:nvSpPr>
          <p:cNvPr id="13" name="TextBox 12"/>
          <p:cNvSpPr txBox="1"/>
          <p:nvPr/>
        </p:nvSpPr>
        <p:spPr>
          <a:xfrm>
            <a:off x="3822191" y="5440680"/>
            <a:ext cx="2697480" cy="594360"/>
          </a:xfrm>
          <a:prstGeom prst="rect">
            <a:avLst/>
          </a:prstGeom>
          <a:noFill/>
        </p:spPr>
        <p:txBody>
          <a:bodyPr wrap="square" lIns="0" rIns="0" tIns="0" bIns="0" anchor="t">
            <a:spAutoFit/>
          </a:bodyPr>
          <a:lstStyle/>
          <a:p>
            <a:pPr algn="l">
              <a:lnSpc>
                <a:spcPct val="110000"/>
              </a:lnSpc>
              <a:buNone/>
            </a:pPr>
            <a:r>
              <a:rPr sz="1000" b="0" i="0">
                <a:solidFill>
                  <a:srgbClr val="9DAFC8"/>
                </a:solidFill>
                <a:latin typeface="Arial"/>
              </a:rPr>
              <a:t>detection cells where enhancement is the best standalone repair</a:t>
            </a:r>
          </a:p>
        </p:txBody>
      </p:sp>
      <p:sp>
        <p:nvSpPr>
          <p:cNvPr id="14" name="Rounded Rectangle 13"/>
          <p:cNvSpPr/>
          <p:nvPr/>
        </p:nvSpPr>
        <p:spPr>
          <a:xfrm>
            <a:off x="7004304" y="1335024"/>
            <a:ext cx="4727448" cy="5148072"/>
          </a:xfrm>
          <a:prstGeom prst="roundRect">
            <a:avLst>
              <a:gd name="adj" fmla="val 1353"/>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b.png"/>
          <p:cNvPicPr>
            <a:picLocks noChangeAspect="1"/>
          </p:cNvPicPr>
          <p:nvPr/>
        </p:nvPicPr>
        <p:blipFill>
          <a:blip r:embed="rId2"/>
          <a:stretch>
            <a:fillRect/>
          </a:stretch>
        </p:blipFill>
        <p:spPr>
          <a:xfrm>
            <a:off x="7059168" y="1389888"/>
            <a:ext cx="4617720" cy="503834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RESULTS — PERFORMANCE VS SNR</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SNR tracks severity within a corruption — not damage across corruptions</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8 / 14</a:t>
            </a:r>
          </a:p>
        </p:txBody>
      </p:sp>
      <p:sp>
        <p:nvSpPr>
          <p:cNvPr id="5" name="TextBox 4"/>
          <p:cNvSpPr txBox="1"/>
          <p:nvPr/>
        </p:nvSpPr>
        <p:spPr>
          <a:xfrm>
            <a:off x="502920" y="1600200"/>
            <a:ext cx="3611880" cy="3840480"/>
          </a:xfrm>
          <a:prstGeom prst="rect">
            <a:avLst/>
          </a:prstGeom>
          <a:noFill/>
        </p:spPr>
        <p:txBody>
          <a:bodyPr wrap="square" lIns="0" rIns="0" tIns="0" bIns="0" anchor="t">
            <a:spAutoFit/>
          </a:bodyPr>
          <a:lstStyle/>
          <a:p>
            <a:pPr algn="l" marL="171450" indent="-171450">
              <a:lnSpc>
                <a:spcPct val="106000"/>
              </a:lnSpc>
              <a:spcAft>
                <a:spcPts val="1200"/>
              </a:spcAft>
              <a:buFont typeface="Arial"/>
              <a:buChar char="•"/>
            </a:pPr>
            <a:r>
              <a:rPr sz="1250" b="0" i="0">
                <a:solidFill>
                  <a:srgbClr val="EAF1FA"/>
                </a:solidFill>
                <a:latin typeface="Arial"/>
              </a:rPr>
              <a:t>Within each corruption type, every task degrades monotonically as mean SNR falls.</a:t>
            </a:r>
          </a:p>
          <a:p>
            <a:pPr algn="l" marL="171450" indent="-171450">
              <a:lnSpc>
                <a:spcPct val="106000"/>
              </a:lnSpc>
              <a:spcAft>
                <a:spcPts val="1200"/>
              </a:spcAft>
              <a:buFont typeface="Arial"/>
              <a:buChar char="•"/>
            </a:pPr>
            <a:r>
              <a:rPr sz="1250" b="0" i="0">
                <a:solidFill>
                  <a:srgbClr val="EAF1FA"/>
                </a:solidFill>
                <a:latin typeface="Arial"/>
              </a:rPr>
              <a:t>Across types SNR misleads: high motion blur (15.6 dB) costs ORB −0.80 and keypoints −0.50 — worse than high noise at 10.0 / 8.2 dB.</a:t>
            </a:r>
          </a:p>
          <a:p>
            <a:pPr algn="l" marL="171450" indent="-171450">
              <a:lnSpc>
                <a:spcPct val="106000"/>
              </a:lnSpc>
              <a:spcAft>
                <a:spcPts val="1200"/>
              </a:spcAft>
              <a:buFont typeface="Arial"/>
              <a:buChar char="•"/>
            </a:pPr>
            <a:r>
              <a:rPr sz="1250" b="0" i="0">
                <a:solidFill>
                  <a:srgbClr val="9DAFC8"/>
                </a:solidFill>
                <a:latin typeface="Arial"/>
              </a:rPr>
              <a:t>Interpretation: geometry-sensitive tasks depend on spatial structure, which blur destroys — pixel-wise SNR does not capture that.</a:t>
            </a:r>
          </a:p>
        </p:txBody>
      </p:sp>
      <p:sp>
        <p:nvSpPr>
          <p:cNvPr id="6" name="TextBox 5"/>
          <p:cNvSpPr txBox="1"/>
          <p:nvPr/>
        </p:nvSpPr>
        <p:spPr>
          <a:xfrm>
            <a:off x="502920" y="5989320"/>
            <a:ext cx="3566160" cy="274320"/>
          </a:xfrm>
          <a:prstGeom prst="rect">
            <a:avLst/>
          </a:prstGeom>
          <a:noFill/>
        </p:spPr>
        <p:txBody>
          <a:bodyPr wrap="square" lIns="0" rIns="0" tIns="0" bIns="0" anchor="t">
            <a:spAutoFit/>
          </a:bodyPr>
          <a:lstStyle/>
          <a:p>
            <a:pPr algn="l">
              <a:lnSpc>
                <a:spcPct val="106000"/>
              </a:lnSpc>
              <a:buNone/>
            </a:pPr>
            <a:r>
              <a:rPr sz="1000" b="0" i="1">
                <a:solidFill>
                  <a:srgbClr val="6B7E9B"/>
                </a:solidFill>
                <a:latin typeface="Arial"/>
              </a:rPr>
              <a:t>Keypoint &amp; segmentation curves → Appendix B</a:t>
            </a:r>
          </a:p>
        </p:txBody>
      </p:sp>
      <p:sp>
        <p:nvSpPr>
          <p:cNvPr id="7" name="Rounded Rectangle 6"/>
          <p:cNvSpPr/>
          <p:nvPr/>
        </p:nvSpPr>
        <p:spPr>
          <a:xfrm>
            <a:off x="4379976" y="1408176"/>
            <a:ext cx="7379208" cy="2423160"/>
          </a:xfrm>
          <a:prstGeom prst="roundRect">
            <a:avLst>
              <a:gd name="adj" fmla="val 2641"/>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06.png"/>
          <p:cNvPicPr>
            <a:picLocks noChangeAspect="1"/>
          </p:cNvPicPr>
          <p:nvPr/>
        </p:nvPicPr>
        <p:blipFill>
          <a:blip r:embed="rId2"/>
          <a:stretch>
            <a:fillRect/>
          </a:stretch>
        </p:blipFill>
        <p:spPr>
          <a:xfrm>
            <a:off x="4434840" y="1463040"/>
            <a:ext cx="7269480" cy="2313432"/>
          </a:xfrm>
          <a:prstGeom prst="rect">
            <a:avLst/>
          </a:prstGeom>
        </p:spPr>
      </p:pic>
      <p:sp>
        <p:nvSpPr>
          <p:cNvPr id="9" name="Rounded Rectangle 8"/>
          <p:cNvSpPr/>
          <p:nvPr/>
        </p:nvSpPr>
        <p:spPr>
          <a:xfrm>
            <a:off x="4379976" y="4014216"/>
            <a:ext cx="7379208" cy="2423160"/>
          </a:xfrm>
          <a:prstGeom prst="roundRect">
            <a:avLst>
              <a:gd name="adj" fmla="val 2641"/>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07.png"/>
          <p:cNvPicPr>
            <a:picLocks noChangeAspect="1"/>
          </p:cNvPicPr>
          <p:nvPr/>
        </p:nvPicPr>
        <p:blipFill>
          <a:blip r:embed="rId3"/>
          <a:stretch>
            <a:fillRect/>
          </a:stretch>
        </p:blipFill>
        <p:spPr>
          <a:xfrm>
            <a:off x="4434840" y="4069080"/>
            <a:ext cx="7269480" cy="23134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RESULTS — PER-CLASS DETECTION</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Which classes break — and which repair brings them back</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9 / 14</a:t>
            </a:r>
          </a:p>
        </p:txBody>
      </p:sp>
      <p:sp>
        <p:nvSpPr>
          <p:cNvPr id="5" name="Rounded Rectangle 4"/>
          <p:cNvSpPr/>
          <p:nvPr/>
        </p:nvSpPr>
        <p:spPr>
          <a:xfrm>
            <a:off x="502920" y="1371600"/>
            <a:ext cx="8174736" cy="2990088"/>
          </a:xfrm>
          <a:prstGeom prst="roundRect">
            <a:avLst>
              <a:gd name="adj" fmla="val 2140"/>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c_clean.png"/>
          <p:cNvPicPr>
            <a:picLocks noChangeAspect="1"/>
          </p:cNvPicPr>
          <p:nvPr/>
        </p:nvPicPr>
        <p:blipFill>
          <a:blip r:embed="rId2"/>
          <a:stretch>
            <a:fillRect/>
          </a:stretch>
        </p:blipFill>
        <p:spPr>
          <a:xfrm>
            <a:off x="557784" y="1426464"/>
            <a:ext cx="8065008" cy="2880360"/>
          </a:xfrm>
          <a:prstGeom prst="rect">
            <a:avLst/>
          </a:prstGeom>
        </p:spPr>
      </p:pic>
      <p:sp>
        <p:nvSpPr>
          <p:cNvPr id="7" name="Rounded Rectangle 6"/>
          <p:cNvSpPr/>
          <p:nvPr/>
        </p:nvSpPr>
        <p:spPr>
          <a:xfrm>
            <a:off x="9006840" y="1371600"/>
            <a:ext cx="2679192" cy="2990088"/>
          </a:xfrm>
          <a:prstGeom prst="roundRect">
            <a:avLst>
              <a:gd name="adj" fmla="val 2389"/>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89720" y="1536192"/>
            <a:ext cx="2377440" cy="2743200"/>
          </a:xfrm>
          <a:prstGeom prst="rect">
            <a:avLst/>
          </a:prstGeom>
          <a:noFill/>
        </p:spPr>
        <p:txBody>
          <a:bodyPr wrap="square" lIns="0" rIns="0" tIns="0" bIns="0" anchor="t">
            <a:spAutoFit/>
          </a:bodyPr>
          <a:lstStyle/>
          <a:p>
            <a:pPr algn="l" marL="171450" indent="-171450">
              <a:lnSpc>
                <a:spcPct val="106000"/>
              </a:lnSpc>
              <a:spcAft>
                <a:spcPts val="800"/>
              </a:spcAft>
              <a:buFont typeface="Arial"/>
              <a:buChar char="•"/>
            </a:pPr>
            <a:r>
              <a:rPr sz="1050" b="0" i="0">
                <a:solidFill>
                  <a:srgbClr val="EAF1FA"/>
                </a:solidFill>
                <a:latin typeface="Arial"/>
              </a:rPr>
              <a:t>Top: clean AP for all 80 classes; dashed line = mAP 0.352.</a:t>
            </a:r>
          </a:p>
          <a:p>
            <a:pPr algn="l" marL="171450" indent="-171450">
              <a:lnSpc>
                <a:spcPct val="106000"/>
              </a:lnSpc>
              <a:spcAft>
                <a:spcPts val="800"/>
              </a:spcAft>
              <a:buFont typeface="Arial"/>
              <a:buChar char="•"/>
            </a:pPr>
            <a:r>
              <a:rPr sz="1050" b="0" i="0">
                <a:solidFill>
                  <a:srgbClr val="EAF1FA"/>
                </a:solidFill>
                <a:latin typeface="Arial"/>
              </a:rPr>
              <a:t>Bottom: the 15 classes with the highest clean AP, at high severity; n = GT instances.</a:t>
            </a:r>
          </a:p>
          <a:p>
            <a:pPr algn="l" marL="171450" indent="-171450">
              <a:lnSpc>
                <a:spcPct val="106000"/>
              </a:lnSpc>
              <a:spcAft>
                <a:spcPts val="800"/>
              </a:spcAft>
              <a:buFont typeface="Arial"/>
              <a:buChar char="•"/>
            </a:pPr>
            <a:r>
              <a:rPr sz="1050" b="0" i="0">
                <a:solidFill>
                  <a:srgbClr val="9DAFC8"/>
                </a:solidFill>
                <a:latin typeface="Arial"/>
              </a:rPr>
              <a:t>gray clean · blue distorted · green enhanced · amber fine-tuned</a:t>
            </a:r>
          </a:p>
          <a:p>
            <a:pPr algn="l" marL="171450" indent="-171450">
              <a:lnSpc>
                <a:spcPct val="106000"/>
              </a:lnSpc>
              <a:spcAft>
                <a:spcPts val="800"/>
              </a:spcAft>
              <a:buFont typeface="Arial"/>
              <a:buChar char="•"/>
            </a:pPr>
            <a:r>
              <a:rPr sz="1050" b="0" i="0">
                <a:solidFill>
                  <a:srgbClr val="9DAFC8"/>
                </a:solidFill>
                <a:latin typeface="Arial"/>
              </a:rPr>
              <a:t>Gaussian-noise comparison → Appendix B.</a:t>
            </a:r>
          </a:p>
        </p:txBody>
      </p:sp>
      <p:sp>
        <p:nvSpPr>
          <p:cNvPr id="9" name="Rounded Rectangle 8"/>
          <p:cNvSpPr/>
          <p:nvPr/>
        </p:nvSpPr>
        <p:spPr>
          <a:xfrm>
            <a:off x="502920" y="4462272"/>
            <a:ext cx="5541264" cy="2048256"/>
          </a:xfrm>
          <a:prstGeom prst="roundRect">
            <a:avLst>
              <a:gd name="adj" fmla="val 3125"/>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c_sp.png"/>
          <p:cNvPicPr>
            <a:picLocks noChangeAspect="1"/>
          </p:cNvPicPr>
          <p:nvPr/>
        </p:nvPicPr>
        <p:blipFill>
          <a:blip r:embed="rId3"/>
          <a:stretch>
            <a:fillRect/>
          </a:stretch>
        </p:blipFill>
        <p:spPr>
          <a:xfrm>
            <a:off x="557784" y="4517136"/>
            <a:ext cx="5431536" cy="1938528"/>
          </a:xfrm>
          <a:prstGeom prst="rect">
            <a:avLst/>
          </a:prstGeom>
        </p:spPr>
      </p:pic>
      <p:sp>
        <p:nvSpPr>
          <p:cNvPr id="11" name="Rounded Rectangle 10"/>
          <p:cNvSpPr/>
          <p:nvPr/>
        </p:nvSpPr>
        <p:spPr>
          <a:xfrm>
            <a:off x="6208776" y="4462272"/>
            <a:ext cx="5541264" cy="2048256"/>
          </a:xfrm>
          <a:prstGeom prst="roundRect">
            <a:avLst>
              <a:gd name="adj" fmla="val 3125"/>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c_mb.png"/>
          <p:cNvPicPr>
            <a:picLocks noChangeAspect="1"/>
          </p:cNvPicPr>
          <p:nvPr/>
        </p:nvPicPr>
        <p:blipFill>
          <a:blip r:embed="rId4"/>
          <a:stretch>
            <a:fillRect/>
          </a:stretch>
        </p:blipFill>
        <p:spPr>
          <a:xfrm>
            <a:off x="6263640" y="4517136"/>
            <a:ext cx="5431536" cy="19385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QUALITATIVE — DETECTION &amp; KEYPOINTS</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What the numbers look like on real images</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10 / 14</a:t>
            </a:r>
          </a:p>
        </p:txBody>
      </p:sp>
      <p:sp>
        <p:nvSpPr>
          <p:cNvPr id="5" name="TextBox 4"/>
          <p:cNvSpPr txBox="1"/>
          <p:nvPr/>
        </p:nvSpPr>
        <p:spPr>
          <a:xfrm>
            <a:off x="502920" y="1444752"/>
            <a:ext cx="2651760" cy="201168"/>
          </a:xfrm>
          <a:prstGeom prst="rect">
            <a:avLst/>
          </a:prstGeom>
          <a:noFill/>
        </p:spPr>
        <p:txBody>
          <a:bodyPr wrap="square" lIns="0" rIns="0" tIns="0" bIns="0" anchor="t">
            <a:spAutoFit/>
          </a:bodyPr>
          <a:lstStyle/>
          <a:p>
            <a:pPr algn="ctr">
              <a:lnSpc>
                <a:spcPct val="106000"/>
              </a:lnSpc>
              <a:buNone/>
            </a:pPr>
            <a:r>
              <a:rPr sz="950" b="1" i="0">
                <a:solidFill>
                  <a:srgbClr val="9AA7BD"/>
                </a:solidFill>
                <a:latin typeface="Arial"/>
              </a:rPr>
              <a:t>Clean + YOLO</a:t>
            </a:r>
          </a:p>
        </p:txBody>
      </p:sp>
      <p:sp>
        <p:nvSpPr>
          <p:cNvPr id="6" name="TextBox 5"/>
          <p:cNvSpPr txBox="1"/>
          <p:nvPr/>
        </p:nvSpPr>
        <p:spPr>
          <a:xfrm>
            <a:off x="3154680" y="1444752"/>
            <a:ext cx="2651760" cy="201168"/>
          </a:xfrm>
          <a:prstGeom prst="rect">
            <a:avLst/>
          </a:prstGeom>
          <a:noFill/>
        </p:spPr>
        <p:txBody>
          <a:bodyPr wrap="square" lIns="0" rIns="0" tIns="0" bIns="0" anchor="t">
            <a:spAutoFit/>
          </a:bodyPr>
          <a:lstStyle/>
          <a:p>
            <a:pPr algn="ctr">
              <a:lnSpc>
                <a:spcPct val="106000"/>
              </a:lnSpc>
              <a:buNone/>
            </a:pPr>
            <a:r>
              <a:rPr sz="950" b="1" i="0">
                <a:solidFill>
                  <a:srgbClr val="3B82F6"/>
                </a:solidFill>
                <a:latin typeface="Arial"/>
              </a:rPr>
              <a:t>Distorted — motion blur (high)</a:t>
            </a:r>
          </a:p>
        </p:txBody>
      </p:sp>
      <p:sp>
        <p:nvSpPr>
          <p:cNvPr id="7" name="TextBox 6"/>
          <p:cNvSpPr txBox="1"/>
          <p:nvPr/>
        </p:nvSpPr>
        <p:spPr>
          <a:xfrm>
            <a:off x="5806440" y="1444752"/>
            <a:ext cx="2651760" cy="201168"/>
          </a:xfrm>
          <a:prstGeom prst="rect">
            <a:avLst/>
          </a:prstGeom>
          <a:noFill/>
        </p:spPr>
        <p:txBody>
          <a:bodyPr wrap="square" lIns="0" rIns="0" tIns="0" bIns="0" anchor="t">
            <a:spAutoFit/>
          </a:bodyPr>
          <a:lstStyle/>
          <a:p>
            <a:pPr algn="ctr">
              <a:lnSpc>
                <a:spcPct val="106000"/>
              </a:lnSpc>
              <a:buNone/>
            </a:pPr>
            <a:r>
              <a:rPr sz="950" b="1" i="0">
                <a:solidFill>
                  <a:srgbClr val="1FA971"/>
                </a:solidFill>
                <a:latin typeface="Arial"/>
              </a:rPr>
              <a:t>Enhanced — Wiener</a:t>
            </a:r>
          </a:p>
        </p:txBody>
      </p:sp>
      <p:sp>
        <p:nvSpPr>
          <p:cNvPr id="8" name="TextBox 7"/>
          <p:cNvSpPr txBox="1"/>
          <p:nvPr/>
        </p:nvSpPr>
        <p:spPr>
          <a:xfrm>
            <a:off x="8458200" y="1444752"/>
            <a:ext cx="2651760" cy="201168"/>
          </a:xfrm>
          <a:prstGeom prst="rect">
            <a:avLst/>
          </a:prstGeom>
          <a:noFill/>
        </p:spPr>
        <p:txBody>
          <a:bodyPr wrap="square" lIns="0" rIns="0" tIns="0" bIns="0" anchor="t">
            <a:spAutoFit/>
          </a:bodyPr>
          <a:lstStyle/>
          <a:p>
            <a:pPr algn="ctr">
              <a:lnSpc>
                <a:spcPct val="106000"/>
              </a:lnSpc>
              <a:buNone/>
            </a:pPr>
            <a:r>
              <a:rPr sz="950" b="1" i="0">
                <a:solidFill>
                  <a:srgbClr val="F0A422"/>
                </a:solidFill>
                <a:latin typeface="Arial"/>
              </a:rPr>
              <a:t>Fine-tuned YOLO on distorted</a:t>
            </a:r>
          </a:p>
        </p:txBody>
      </p:sp>
      <p:sp>
        <p:nvSpPr>
          <p:cNvPr id="9" name="Rounded Rectangle 8"/>
          <p:cNvSpPr/>
          <p:nvPr/>
        </p:nvSpPr>
        <p:spPr>
          <a:xfrm>
            <a:off x="502920" y="1700784"/>
            <a:ext cx="10716767" cy="2011680"/>
          </a:xfrm>
          <a:prstGeom prst="roundRect">
            <a:avLst>
              <a:gd name="adj" fmla="val 3181"/>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et_row.png"/>
          <p:cNvPicPr>
            <a:picLocks noChangeAspect="1"/>
          </p:cNvPicPr>
          <p:nvPr/>
        </p:nvPicPr>
        <p:blipFill>
          <a:blip r:embed="rId2"/>
          <a:stretch>
            <a:fillRect/>
          </a:stretch>
        </p:blipFill>
        <p:spPr>
          <a:xfrm>
            <a:off x="557784" y="1755648"/>
            <a:ext cx="10607040" cy="1901952"/>
          </a:xfrm>
          <a:prstGeom prst="rect">
            <a:avLst/>
          </a:prstGeom>
        </p:spPr>
      </p:pic>
      <p:sp>
        <p:nvSpPr>
          <p:cNvPr id="11" name="TextBox 10"/>
          <p:cNvSpPr txBox="1"/>
          <p:nvPr/>
        </p:nvSpPr>
        <p:spPr>
          <a:xfrm>
            <a:off x="502920" y="4041648"/>
            <a:ext cx="2529840" cy="201168"/>
          </a:xfrm>
          <a:prstGeom prst="rect">
            <a:avLst/>
          </a:prstGeom>
          <a:noFill/>
        </p:spPr>
        <p:txBody>
          <a:bodyPr wrap="square" lIns="0" rIns="0" tIns="0" bIns="0" anchor="t">
            <a:spAutoFit/>
          </a:bodyPr>
          <a:lstStyle/>
          <a:p>
            <a:pPr algn="ctr">
              <a:lnSpc>
                <a:spcPct val="106000"/>
              </a:lnSpc>
              <a:buNone/>
            </a:pPr>
            <a:r>
              <a:rPr sz="950" b="1" i="0">
                <a:solidFill>
                  <a:srgbClr val="9AA7BD"/>
                </a:solidFill>
                <a:latin typeface="Arial"/>
              </a:rPr>
              <a:t>Clean + Keypoint R-CNN</a:t>
            </a:r>
          </a:p>
        </p:txBody>
      </p:sp>
      <p:sp>
        <p:nvSpPr>
          <p:cNvPr id="12" name="TextBox 11"/>
          <p:cNvSpPr txBox="1"/>
          <p:nvPr/>
        </p:nvSpPr>
        <p:spPr>
          <a:xfrm>
            <a:off x="3032760" y="4041648"/>
            <a:ext cx="2529840" cy="201168"/>
          </a:xfrm>
          <a:prstGeom prst="rect">
            <a:avLst/>
          </a:prstGeom>
          <a:noFill/>
        </p:spPr>
        <p:txBody>
          <a:bodyPr wrap="square" lIns="0" rIns="0" tIns="0" bIns="0" anchor="t">
            <a:spAutoFit/>
          </a:bodyPr>
          <a:lstStyle/>
          <a:p>
            <a:pPr algn="ctr">
              <a:lnSpc>
                <a:spcPct val="106000"/>
              </a:lnSpc>
              <a:buNone/>
            </a:pPr>
            <a:r>
              <a:rPr sz="950" b="1" i="0">
                <a:solidFill>
                  <a:srgbClr val="3B82F6"/>
                </a:solidFill>
                <a:latin typeface="Arial"/>
              </a:rPr>
              <a:t>Distorted — Gaussian noise (high)</a:t>
            </a:r>
          </a:p>
        </p:txBody>
      </p:sp>
      <p:sp>
        <p:nvSpPr>
          <p:cNvPr id="13" name="TextBox 12"/>
          <p:cNvSpPr txBox="1"/>
          <p:nvPr/>
        </p:nvSpPr>
        <p:spPr>
          <a:xfrm>
            <a:off x="5562600" y="4041648"/>
            <a:ext cx="2529840" cy="201168"/>
          </a:xfrm>
          <a:prstGeom prst="rect">
            <a:avLst/>
          </a:prstGeom>
          <a:noFill/>
        </p:spPr>
        <p:txBody>
          <a:bodyPr wrap="square" lIns="0" rIns="0" tIns="0" bIns="0" anchor="t">
            <a:spAutoFit/>
          </a:bodyPr>
          <a:lstStyle/>
          <a:p>
            <a:pPr algn="ctr">
              <a:lnSpc>
                <a:spcPct val="106000"/>
              </a:lnSpc>
              <a:buNone/>
            </a:pPr>
            <a:r>
              <a:rPr sz="950" b="1" i="0">
                <a:solidFill>
                  <a:srgbClr val="1FA971"/>
                </a:solidFill>
                <a:latin typeface="Arial"/>
              </a:rPr>
              <a:t>Enhanced — BM3D</a:t>
            </a:r>
          </a:p>
        </p:txBody>
      </p:sp>
      <p:sp>
        <p:nvSpPr>
          <p:cNvPr id="14" name="Rounded Rectangle 13"/>
          <p:cNvSpPr/>
          <p:nvPr/>
        </p:nvSpPr>
        <p:spPr>
          <a:xfrm>
            <a:off x="502920" y="4297680"/>
            <a:ext cx="7699248" cy="1885771"/>
          </a:xfrm>
          <a:prstGeom prst="roundRect">
            <a:avLst>
              <a:gd name="adj" fmla="val 3394"/>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p_row.png"/>
          <p:cNvPicPr>
            <a:picLocks noChangeAspect="1"/>
          </p:cNvPicPr>
          <p:nvPr/>
        </p:nvPicPr>
        <p:blipFill>
          <a:blip r:embed="rId3"/>
          <a:stretch>
            <a:fillRect/>
          </a:stretch>
        </p:blipFill>
        <p:spPr>
          <a:xfrm>
            <a:off x="557784" y="4352544"/>
            <a:ext cx="7589520" cy="1776043"/>
          </a:xfrm>
          <a:prstGeom prst="rect">
            <a:avLst/>
          </a:prstGeom>
        </p:spPr>
      </p:pic>
      <p:sp>
        <p:nvSpPr>
          <p:cNvPr id="16" name="Rounded Rectangle 15"/>
          <p:cNvSpPr/>
          <p:nvPr/>
        </p:nvSpPr>
        <p:spPr>
          <a:xfrm>
            <a:off x="8503920" y="4041648"/>
            <a:ext cx="3182112" cy="2212848"/>
          </a:xfrm>
          <a:prstGeom prst="roundRect">
            <a:avLst>
              <a:gd name="adj" fmla="val 2892"/>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68512" y="4169663"/>
            <a:ext cx="2834640" cy="237744"/>
          </a:xfrm>
          <a:prstGeom prst="rect">
            <a:avLst/>
          </a:prstGeom>
          <a:noFill/>
        </p:spPr>
        <p:txBody>
          <a:bodyPr wrap="square" lIns="0" rIns="0" tIns="0" bIns="0" anchor="t">
            <a:spAutoFit/>
          </a:bodyPr>
          <a:lstStyle/>
          <a:p>
            <a:pPr algn="l">
              <a:lnSpc>
                <a:spcPct val="106000"/>
              </a:lnSpc>
              <a:buNone/>
            </a:pPr>
            <a:r>
              <a:rPr sz="950" b="1" i="0" spc="150">
                <a:solidFill>
                  <a:srgbClr val="3EC5FF"/>
                </a:solidFill>
                <a:latin typeface="Arial"/>
              </a:rPr>
              <a:t>READING THE PANELS</a:t>
            </a:r>
          </a:p>
        </p:txBody>
      </p:sp>
      <p:sp>
        <p:nvSpPr>
          <p:cNvPr id="18" name="TextBox 17"/>
          <p:cNvSpPr txBox="1"/>
          <p:nvPr/>
        </p:nvSpPr>
        <p:spPr>
          <a:xfrm>
            <a:off x="8668512" y="4480560"/>
            <a:ext cx="2907792" cy="1737360"/>
          </a:xfrm>
          <a:prstGeom prst="rect">
            <a:avLst/>
          </a:prstGeom>
          <a:noFill/>
        </p:spPr>
        <p:txBody>
          <a:bodyPr wrap="square" lIns="0" rIns="0" tIns="0" bIns="0" anchor="t">
            <a:spAutoFit/>
          </a:bodyPr>
          <a:lstStyle/>
          <a:p>
            <a:pPr algn="l" marL="171450" indent="-171450">
              <a:lnSpc>
                <a:spcPct val="106000"/>
              </a:lnSpc>
              <a:spcAft>
                <a:spcPts val="600"/>
              </a:spcAft>
              <a:buFont typeface="Arial"/>
              <a:buChar char="•"/>
            </a:pPr>
            <a:r>
              <a:rPr sz="1000" b="0" i="0">
                <a:solidFill>
                  <a:srgbClr val="EAF1FA"/>
                </a:solidFill>
                <a:latin typeface="Arial"/>
              </a:rPr>
              <a:t>Gray dashed = ground truth; solid boxes / white skeletons + yellow joints = predictions.</a:t>
            </a:r>
          </a:p>
          <a:p>
            <a:pPr algn="l" marL="171450" indent="-171450">
              <a:lnSpc>
                <a:spcPct val="106000"/>
              </a:lnSpc>
              <a:spcAft>
                <a:spcPts val="600"/>
              </a:spcAft>
              <a:buFont typeface="Arial"/>
              <a:buChar char="•"/>
            </a:pPr>
            <a:r>
              <a:rPr sz="1000" b="0" i="0">
                <a:solidFill>
                  <a:srgbClr val="EAF1FA"/>
                </a:solidFill>
                <a:latin typeface="Arial"/>
              </a:rPr>
              <a:t>Blur wipes out cars and signs; deblurring brings detections back — fine-tuning recovers some directly.</a:t>
            </a:r>
          </a:p>
          <a:p>
            <a:pPr algn="l" marL="171450" indent="-171450">
              <a:lnSpc>
                <a:spcPct val="106000"/>
              </a:lnSpc>
              <a:spcAft>
                <a:spcPts val="600"/>
              </a:spcAft>
              <a:buFont typeface="Arial"/>
              <a:buChar char="•"/>
            </a:pPr>
            <a:r>
              <a:rPr sz="1000" b="0" i="0">
                <a:solidFill>
                  <a:srgbClr val="EAF1FA"/>
                </a:solidFill>
                <a:latin typeface="Arial"/>
              </a:rPr>
              <a:t>Noise drags joints off body parts; after BM3D the skeletons re-attach.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QUALITATIVE — SEGMENTATION &amp; FEATURES</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Corruption breaks structure — matched repair rebuilds most of it</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11 / 14</a:t>
            </a:r>
          </a:p>
        </p:txBody>
      </p:sp>
      <p:sp>
        <p:nvSpPr>
          <p:cNvPr id="5" name="TextBox 4"/>
          <p:cNvSpPr txBox="1"/>
          <p:nvPr/>
        </p:nvSpPr>
        <p:spPr>
          <a:xfrm>
            <a:off x="502920" y="1444752"/>
            <a:ext cx="1679008" cy="201168"/>
          </a:xfrm>
          <a:prstGeom prst="rect">
            <a:avLst/>
          </a:prstGeom>
          <a:noFill/>
        </p:spPr>
        <p:txBody>
          <a:bodyPr wrap="square" lIns="0" rIns="0" tIns="0" bIns="0" anchor="t">
            <a:spAutoFit/>
          </a:bodyPr>
          <a:lstStyle/>
          <a:p>
            <a:pPr algn="ctr">
              <a:lnSpc>
                <a:spcPct val="106000"/>
              </a:lnSpc>
              <a:buNone/>
            </a:pPr>
            <a:r>
              <a:rPr sz="950" b="1" i="0">
                <a:solidFill>
                  <a:srgbClr val="9AA7BD"/>
                </a:solidFill>
                <a:latin typeface="Arial"/>
              </a:rPr>
              <a:t>Ground truth</a:t>
            </a:r>
          </a:p>
        </p:txBody>
      </p:sp>
      <p:sp>
        <p:nvSpPr>
          <p:cNvPr id="6" name="TextBox 5"/>
          <p:cNvSpPr txBox="1"/>
          <p:nvPr/>
        </p:nvSpPr>
        <p:spPr>
          <a:xfrm>
            <a:off x="2181928" y="1444752"/>
            <a:ext cx="1679008" cy="201168"/>
          </a:xfrm>
          <a:prstGeom prst="rect">
            <a:avLst/>
          </a:prstGeom>
          <a:noFill/>
        </p:spPr>
        <p:txBody>
          <a:bodyPr wrap="square" lIns="0" rIns="0" tIns="0" bIns="0" anchor="t">
            <a:spAutoFit/>
          </a:bodyPr>
          <a:lstStyle/>
          <a:p>
            <a:pPr algn="ctr">
              <a:lnSpc>
                <a:spcPct val="106000"/>
              </a:lnSpc>
              <a:buNone/>
            </a:pPr>
            <a:r>
              <a:rPr sz="950" b="1" i="0">
                <a:solidFill>
                  <a:srgbClr val="EAF1FA"/>
                </a:solidFill>
                <a:latin typeface="Arial"/>
              </a:rPr>
              <a:t>Clean · PQ 0.410</a:t>
            </a:r>
          </a:p>
        </p:txBody>
      </p:sp>
      <p:sp>
        <p:nvSpPr>
          <p:cNvPr id="7" name="TextBox 6"/>
          <p:cNvSpPr txBox="1"/>
          <p:nvPr/>
        </p:nvSpPr>
        <p:spPr>
          <a:xfrm>
            <a:off x="3860937" y="1444752"/>
            <a:ext cx="1679008" cy="201168"/>
          </a:xfrm>
          <a:prstGeom prst="rect">
            <a:avLst/>
          </a:prstGeom>
          <a:noFill/>
        </p:spPr>
        <p:txBody>
          <a:bodyPr wrap="square" lIns="0" rIns="0" tIns="0" bIns="0" anchor="t">
            <a:spAutoFit/>
          </a:bodyPr>
          <a:lstStyle/>
          <a:p>
            <a:pPr algn="ctr">
              <a:lnSpc>
                <a:spcPct val="106000"/>
              </a:lnSpc>
              <a:buNone/>
            </a:pPr>
            <a:r>
              <a:rPr sz="950" b="1" i="0">
                <a:solidFill>
                  <a:srgbClr val="3B82F6"/>
                </a:solidFill>
                <a:latin typeface="Arial"/>
              </a:rPr>
              <a:t>Distorted · PQ 0.105</a:t>
            </a:r>
          </a:p>
        </p:txBody>
      </p:sp>
      <p:sp>
        <p:nvSpPr>
          <p:cNvPr id="8" name="TextBox 7"/>
          <p:cNvSpPr txBox="1"/>
          <p:nvPr/>
        </p:nvSpPr>
        <p:spPr>
          <a:xfrm>
            <a:off x="5539946" y="1444752"/>
            <a:ext cx="1679008" cy="201168"/>
          </a:xfrm>
          <a:prstGeom prst="rect">
            <a:avLst/>
          </a:prstGeom>
          <a:noFill/>
        </p:spPr>
        <p:txBody>
          <a:bodyPr wrap="square" lIns="0" rIns="0" tIns="0" bIns="0" anchor="t">
            <a:spAutoFit/>
          </a:bodyPr>
          <a:lstStyle/>
          <a:p>
            <a:pPr algn="ctr">
              <a:lnSpc>
                <a:spcPct val="106000"/>
              </a:lnSpc>
              <a:buNone/>
            </a:pPr>
            <a:r>
              <a:rPr sz="950" b="1" i="0">
                <a:solidFill>
                  <a:srgbClr val="1FA971"/>
                </a:solidFill>
                <a:latin typeface="Arial"/>
              </a:rPr>
              <a:t>Enhanced · PQ 0.348</a:t>
            </a:r>
          </a:p>
        </p:txBody>
      </p:sp>
      <p:sp>
        <p:nvSpPr>
          <p:cNvPr id="9" name="Rounded Rectangle 8"/>
          <p:cNvSpPr/>
          <p:nvPr/>
        </p:nvSpPr>
        <p:spPr>
          <a:xfrm>
            <a:off x="502920" y="1700784"/>
            <a:ext cx="6825763" cy="2258568"/>
          </a:xfrm>
          <a:prstGeom prst="roundRect">
            <a:avLst>
              <a:gd name="adj" fmla="val 2834"/>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n_row.png"/>
          <p:cNvPicPr>
            <a:picLocks noChangeAspect="1"/>
          </p:cNvPicPr>
          <p:nvPr/>
        </p:nvPicPr>
        <p:blipFill>
          <a:blip r:embed="rId2"/>
          <a:stretch>
            <a:fillRect/>
          </a:stretch>
        </p:blipFill>
        <p:spPr>
          <a:xfrm>
            <a:off x="557784" y="1755648"/>
            <a:ext cx="6716035" cy="2148840"/>
          </a:xfrm>
          <a:prstGeom prst="rect">
            <a:avLst/>
          </a:prstGeom>
        </p:spPr>
      </p:pic>
      <p:sp>
        <p:nvSpPr>
          <p:cNvPr id="11" name="Rounded Rectangle 10"/>
          <p:cNvSpPr/>
          <p:nvPr/>
        </p:nvSpPr>
        <p:spPr>
          <a:xfrm>
            <a:off x="7452360" y="1444752"/>
            <a:ext cx="4233672" cy="2514600"/>
          </a:xfrm>
          <a:prstGeom prst="roundRect">
            <a:avLst>
              <a:gd name="adj" fmla="val 2545"/>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591056"/>
            <a:ext cx="3840480" cy="237744"/>
          </a:xfrm>
          <a:prstGeom prst="rect">
            <a:avLst/>
          </a:prstGeom>
          <a:noFill/>
        </p:spPr>
        <p:txBody>
          <a:bodyPr wrap="square" lIns="0" rIns="0" tIns="0" bIns="0" anchor="t">
            <a:spAutoFit/>
          </a:bodyPr>
          <a:lstStyle/>
          <a:p>
            <a:pPr algn="l">
              <a:lnSpc>
                <a:spcPct val="106000"/>
              </a:lnSpc>
              <a:buNone/>
            </a:pPr>
            <a:r>
              <a:rPr sz="950" b="1" i="0" spc="150">
                <a:solidFill>
                  <a:srgbClr val="3EC5FF"/>
                </a:solidFill>
                <a:latin typeface="Arial"/>
              </a:rPr>
              <a:t>PANOPTIC — SALT &amp; PEPPER, HIGH</a:t>
            </a:r>
          </a:p>
        </p:txBody>
      </p:sp>
      <p:sp>
        <p:nvSpPr>
          <p:cNvPr id="13" name="TextBox 12"/>
          <p:cNvSpPr txBox="1"/>
          <p:nvPr/>
        </p:nvSpPr>
        <p:spPr>
          <a:xfrm>
            <a:off x="7616952" y="1920240"/>
            <a:ext cx="3913632" cy="1920240"/>
          </a:xfrm>
          <a:prstGeom prst="rect">
            <a:avLst/>
          </a:prstGeom>
          <a:noFill/>
        </p:spPr>
        <p:txBody>
          <a:bodyPr wrap="square" lIns="0" rIns="0" tIns="0" bIns="0" anchor="t">
            <a:spAutoFit/>
          </a:bodyPr>
          <a:lstStyle/>
          <a:p>
            <a:pPr algn="l" marL="171450" indent="-171450">
              <a:lnSpc>
                <a:spcPct val="106000"/>
              </a:lnSpc>
              <a:spcAft>
                <a:spcPts val="800"/>
              </a:spcAft>
              <a:buFont typeface="Arial"/>
              <a:buChar char="•"/>
            </a:pPr>
            <a:r>
              <a:rPr sz="1050" b="0" i="0">
                <a:solidFill>
                  <a:srgbClr val="EAF1FA"/>
                </a:solidFill>
                <a:latin typeface="Arial"/>
              </a:rPr>
              <a:t>Color = semantic category, white hairlines = segment boundaries; PQ above each panel.</a:t>
            </a:r>
          </a:p>
          <a:p>
            <a:pPr algn="l" marL="171450" indent="-171450">
              <a:lnSpc>
                <a:spcPct val="106000"/>
              </a:lnSpc>
              <a:spcAft>
                <a:spcPts val="800"/>
              </a:spcAft>
              <a:buFont typeface="Arial"/>
              <a:buChar char="•"/>
            </a:pPr>
            <a:r>
              <a:rPr sz="1050" b="0" i="0">
                <a:solidFill>
                  <a:srgbClr val="EAF1FA"/>
                </a:solidFill>
                <a:latin typeface="Arial"/>
              </a:rPr>
              <a:t>Impulse noise shatters the scene into false segments: PQ 0.410 → 0.105.</a:t>
            </a:r>
          </a:p>
          <a:p>
            <a:pPr algn="l" marL="171450" indent="-171450">
              <a:lnSpc>
                <a:spcPct val="106000"/>
              </a:lnSpc>
              <a:spcAft>
                <a:spcPts val="800"/>
              </a:spcAft>
              <a:buFont typeface="Arial"/>
              <a:buChar char="•"/>
            </a:pPr>
            <a:r>
              <a:rPr sz="1050" b="0" i="0">
                <a:solidFill>
                  <a:srgbClr val="EAF1FA"/>
                </a:solidFill>
                <a:latin typeface="Arial"/>
              </a:rPr>
              <a:t>The 3×3 median filter rebuilds the layout — PQ back to 0.348.</a:t>
            </a:r>
          </a:p>
        </p:txBody>
      </p:sp>
      <p:sp>
        <p:nvSpPr>
          <p:cNvPr id="14" name="TextBox 13"/>
          <p:cNvSpPr txBox="1"/>
          <p:nvPr/>
        </p:nvSpPr>
        <p:spPr>
          <a:xfrm>
            <a:off x="502920" y="4279392"/>
            <a:ext cx="2558980" cy="201168"/>
          </a:xfrm>
          <a:prstGeom prst="rect">
            <a:avLst/>
          </a:prstGeom>
          <a:noFill/>
        </p:spPr>
        <p:txBody>
          <a:bodyPr wrap="square" lIns="0" rIns="0" tIns="0" bIns="0" anchor="t">
            <a:spAutoFit/>
          </a:bodyPr>
          <a:lstStyle/>
          <a:p>
            <a:pPr algn="ctr">
              <a:lnSpc>
                <a:spcPct val="106000"/>
              </a:lnSpc>
              <a:buNone/>
            </a:pPr>
            <a:r>
              <a:rPr sz="950" b="1" i="0">
                <a:solidFill>
                  <a:srgbClr val="3B82F6"/>
                </a:solidFill>
                <a:latin typeface="Arial"/>
              </a:rPr>
              <a:t>Clean ↔ Distorted (blur high)</a:t>
            </a:r>
          </a:p>
        </p:txBody>
      </p:sp>
      <p:sp>
        <p:nvSpPr>
          <p:cNvPr id="15" name="TextBox 14"/>
          <p:cNvSpPr txBox="1"/>
          <p:nvPr/>
        </p:nvSpPr>
        <p:spPr>
          <a:xfrm>
            <a:off x="3061900" y="4279392"/>
            <a:ext cx="2558980" cy="201168"/>
          </a:xfrm>
          <a:prstGeom prst="rect">
            <a:avLst/>
          </a:prstGeom>
          <a:noFill/>
        </p:spPr>
        <p:txBody>
          <a:bodyPr wrap="square" lIns="0" rIns="0" tIns="0" bIns="0" anchor="t">
            <a:spAutoFit/>
          </a:bodyPr>
          <a:lstStyle/>
          <a:p>
            <a:pPr algn="ctr">
              <a:lnSpc>
                <a:spcPct val="106000"/>
              </a:lnSpc>
              <a:buNone/>
            </a:pPr>
            <a:r>
              <a:rPr sz="950" b="1" i="0">
                <a:solidFill>
                  <a:srgbClr val="1FA971"/>
                </a:solidFill>
                <a:latin typeface="Arial"/>
              </a:rPr>
              <a:t>Clean ↔ Enhanced (Wiener)</a:t>
            </a:r>
          </a:p>
        </p:txBody>
      </p:sp>
      <p:sp>
        <p:nvSpPr>
          <p:cNvPr id="16" name="Rounded Rectangle 15"/>
          <p:cNvSpPr/>
          <p:nvPr/>
        </p:nvSpPr>
        <p:spPr>
          <a:xfrm>
            <a:off x="502920" y="4535424"/>
            <a:ext cx="5227688" cy="1938528"/>
          </a:xfrm>
          <a:prstGeom prst="roundRect">
            <a:avLst>
              <a:gd name="adj" fmla="val 3301"/>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orb_row.png"/>
          <p:cNvPicPr>
            <a:picLocks noChangeAspect="1"/>
          </p:cNvPicPr>
          <p:nvPr/>
        </p:nvPicPr>
        <p:blipFill>
          <a:blip r:embed="rId3"/>
          <a:stretch>
            <a:fillRect/>
          </a:stretch>
        </p:blipFill>
        <p:spPr>
          <a:xfrm>
            <a:off x="557784" y="4590288"/>
            <a:ext cx="5117960" cy="1828800"/>
          </a:xfrm>
          <a:prstGeom prst="rect">
            <a:avLst/>
          </a:prstGeom>
        </p:spPr>
      </p:pic>
      <p:sp>
        <p:nvSpPr>
          <p:cNvPr id="18" name="Rounded Rectangle 17"/>
          <p:cNvSpPr/>
          <p:nvPr/>
        </p:nvSpPr>
        <p:spPr>
          <a:xfrm>
            <a:off x="5989320" y="4279392"/>
            <a:ext cx="5696712" cy="2103120"/>
          </a:xfrm>
          <a:prstGeom prst="roundRect">
            <a:avLst>
              <a:gd name="adj" fmla="val 304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53912" y="4425696"/>
            <a:ext cx="5303520" cy="237744"/>
          </a:xfrm>
          <a:prstGeom prst="rect">
            <a:avLst/>
          </a:prstGeom>
          <a:noFill/>
        </p:spPr>
        <p:txBody>
          <a:bodyPr wrap="square" lIns="0" rIns="0" tIns="0" bIns="0" anchor="t">
            <a:spAutoFit/>
          </a:bodyPr>
          <a:lstStyle/>
          <a:p>
            <a:pPr algn="l">
              <a:lnSpc>
                <a:spcPct val="106000"/>
              </a:lnSpc>
              <a:buNone/>
            </a:pPr>
            <a:r>
              <a:rPr sz="950" b="1" i="0" spc="150">
                <a:solidFill>
                  <a:srgbClr val="3EC5FF"/>
                </a:solidFill>
                <a:latin typeface="Arial"/>
              </a:rPr>
              <a:t>ORB MATCHING — MOTION BLUR, HIGH</a:t>
            </a:r>
          </a:p>
        </p:txBody>
      </p:sp>
      <p:sp>
        <p:nvSpPr>
          <p:cNvPr id="20" name="TextBox 19"/>
          <p:cNvSpPr txBox="1"/>
          <p:nvPr/>
        </p:nvSpPr>
        <p:spPr>
          <a:xfrm>
            <a:off x="6153912" y="4754880"/>
            <a:ext cx="5394960" cy="1463040"/>
          </a:xfrm>
          <a:prstGeom prst="rect">
            <a:avLst/>
          </a:prstGeom>
          <a:noFill/>
        </p:spPr>
        <p:txBody>
          <a:bodyPr wrap="square" lIns="0" rIns="0" tIns="0" bIns="0" anchor="t">
            <a:spAutoFit/>
          </a:bodyPr>
          <a:lstStyle/>
          <a:p>
            <a:pPr algn="l" marL="171450" indent="-171450">
              <a:lnSpc>
                <a:spcPct val="106000"/>
              </a:lnSpc>
              <a:spcAft>
                <a:spcPts val="800"/>
              </a:spcAft>
              <a:buFont typeface="Arial"/>
              <a:buChar char="•"/>
            </a:pPr>
            <a:r>
              <a:rPr sz="1050" b="0" i="0">
                <a:solidFill>
                  <a:srgbClr val="EAF1FA"/>
                </a:solidFill>
                <a:latin typeface="Arial"/>
              </a:rPr>
              <a:t>Lines join good matches (Hamming ≤ 64, cross-checked — the metric's criterion); caption = per-image match ratio.</a:t>
            </a:r>
          </a:p>
          <a:p>
            <a:pPr algn="l" marL="171450" indent="-171450">
              <a:lnSpc>
                <a:spcPct val="106000"/>
              </a:lnSpc>
              <a:spcAft>
                <a:spcPts val="800"/>
              </a:spcAft>
              <a:buFont typeface="Arial"/>
              <a:buChar char="•"/>
            </a:pPr>
            <a:r>
              <a:rPr sz="1050" b="0" i="0">
                <a:solidFill>
                  <a:srgbClr val="EAF1FA"/>
                </a:solidFill>
                <a:latin typeface="Arial"/>
              </a:rPr>
              <a:t>Heavy blur leaves few good matches; Wiener deconvolution lifts these two examples from 0.29 / 0.05 to 0.56 / 0.39.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RESULTS — REPAIR STRATEGIES (DETECTION)</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Enhancement wins alone — stacking wins on heavy motion blur</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12 / 14</a:t>
            </a:r>
          </a:p>
        </p:txBody>
      </p:sp>
      <p:sp>
        <p:nvSpPr>
          <p:cNvPr id="5" name="TextBox 4"/>
          <p:cNvSpPr txBox="1"/>
          <p:nvPr/>
        </p:nvSpPr>
        <p:spPr>
          <a:xfrm>
            <a:off x="502920" y="1371600"/>
            <a:ext cx="6858000" cy="274320"/>
          </a:xfrm>
          <a:prstGeom prst="rect">
            <a:avLst/>
          </a:prstGeom>
          <a:noFill/>
        </p:spPr>
        <p:txBody>
          <a:bodyPr wrap="square" lIns="0" rIns="0" tIns="0" bIns="0" anchor="t">
            <a:spAutoFit/>
          </a:bodyPr>
          <a:lstStyle/>
          <a:p>
            <a:pPr algn="l">
              <a:lnSpc>
                <a:spcPct val="106000"/>
              </a:lnSpc>
              <a:buNone/>
            </a:pPr>
            <a:r>
              <a:rPr sz="1200" b="1" i="0">
                <a:solidFill>
                  <a:srgbClr val="EAF1FA"/>
                </a:solidFill>
                <a:latin typeface="Arial"/>
              </a:rPr>
              <a:t>mAP@[.5:.95] at high severity — clean baseline = 0.352</a:t>
            </a:r>
          </a:p>
        </p:txBody>
      </p:sp>
      <p:sp>
        <p:nvSpPr>
          <p:cNvPr id="6" name="Rounded Rectangle 5"/>
          <p:cNvSpPr/>
          <p:nvPr/>
        </p:nvSpPr>
        <p:spPr>
          <a:xfrm>
            <a:off x="502920" y="1737360"/>
            <a:ext cx="6903720" cy="4251960"/>
          </a:xfrm>
          <a:prstGeom prst="roundRect">
            <a:avLst>
              <a:gd name="adj" fmla="val 1505"/>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640080" y="1828800"/>
          <a:ext cx="6629400" cy="4069080"/>
        </p:xfrm>
        <a:graphic>
          <a:graphicData uri="http://schemas.openxmlformats.org/drawingml/2006/chart">
            <c:chart xmlns:c="http://schemas.openxmlformats.org/drawingml/2006/chart" r:id="rId2"/>
          </a:graphicData>
        </a:graphic>
      </p:graphicFrame>
      <p:sp>
        <p:nvSpPr>
          <p:cNvPr id="8" name="TextBox 7"/>
          <p:cNvSpPr txBox="1"/>
          <p:nvPr/>
        </p:nvSpPr>
        <p:spPr>
          <a:xfrm>
            <a:off x="502920" y="6108192"/>
            <a:ext cx="6858000" cy="274320"/>
          </a:xfrm>
          <a:prstGeom prst="rect">
            <a:avLst/>
          </a:prstGeom>
          <a:noFill/>
        </p:spPr>
        <p:txBody>
          <a:bodyPr wrap="square" lIns="0" rIns="0" tIns="0" bIns="0" anchor="t">
            <a:spAutoFit/>
          </a:bodyPr>
          <a:lstStyle/>
          <a:p>
            <a:pPr algn="l">
              <a:lnSpc>
                <a:spcPct val="106000"/>
              </a:lnSpc>
              <a:buNone/>
            </a:pPr>
            <a:r>
              <a:rPr sz="1000" b="0" i="0">
                <a:solidFill>
                  <a:srgbClr val="6B7E9B"/>
                </a:solidFill>
                <a:latin typeface="Arial"/>
              </a:rPr>
              <a:t>Same ranking at low &amp; medium severity for the standalone repairs — full table in Appendix A.</a:t>
            </a:r>
          </a:p>
        </p:txBody>
      </p:sp>
      <p:sp>
        <p:nvSpPr>
          <p:cNvPr id="9" name="Rounded Rectangle 8"/>
          <p:cNvSpPr/>
          <p:nvPr/>
        </p:nvSpPr>
        <p:spPr>
          <a:xfrm>
            <a:off x="7818120" y="1481328"/>
            <a:ext cx="386791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572768"/>
            <a:ext cx="3566160" cy="384048"/>
          </a:xfrm>
          <a:prstGeom prst="rect">
            <a:avLst/>
          </a:prstGeom>
          <a:noFill/>
        </p:spPr>
        <p:txBody>
          <a:bodyPr wrap="square" lIns="0" rIns="0" tIns="0" bIns="0" anchor="t">
            <a:spAutoFit/>
          </a:bodyPr>
          <a:lstStyle/>
          <a:p>
            <a:pPr algn="l">
              <a:lnSpc>
                <a:spcPct val="106000"/>
              </a:lnSpc>
              <a:buNone/>
            </a:pPr>
            <a:r>
              <a:rPr sz="1700" b="1" i="0">
                <a:solidFill>
                  <a:srgbClr val="1FA971"/>
                </a:solidFill>
                <a:latin typeface="Arial"/>
              </a:rPr>
              <a:t>9 / 9</a:t>
            </a:r>
          </a:p>
        </p:txBody>
      </p:sp>
      <p:sp>
        <p:nvSpPr>
          <p:cNvPr id="11" name="TextBox 10"/>
          <p:cNvSpPr txBox="1"/>
          <p:nvPr/>
        </p:nvSpPr>
        <p:spPr>
          <a:xfrm>
            <a:off x="7982712" y="1956816"/>
            <a:ext cx="3566160" cy="502920"/>
          </a:xfrm>
          <a:prstGeom prst="rect">
            <a:avLst/>
          </a:prstGeom>
          <a:noFill/>
        </p:spPr>
        <p:txBody>
          <a:bodyPr wrap="square" lIns="0" rIns="0" tIns="0" bIns="0" anchor="t">
            <a:spAutoFit/>
          </a:bodyPr>
          <a:lstStyle/>
          <a:p>
            <a:pPr algn="l">
              <a:lnSpc>
                <a:spcPct val="108000"/>
              </a:lnSpc>
              <a:buNone/>
            </a:pPr>
            <a:r>
              <a:rPr sz="950" b="0" i="0">
                <a:solidFill>
                  <a:srgbClr val="9DAFC8"/>
                </a:solidFill>
                <a:latin typeface="Arial"/>
              </a:rPr>
              <a:t>detection cells where enhancement beats fine-tuning alone</a:t>
            </a:r>
          </a:p>
        </p:txBody>
      </p:sp>
      <p:sp>
        <p:nvSpPr>
          <p:cNvPr id="12" name="Rounded Rectangle 11"/>
          <p:cNvSpPr/>
          <p:nvPr/>
        </p:nvSpPr>
        <p:spPr>
          <a:xfrm>
            <a:off x="7818120" y="2615184"/>
            <a:ext cx="386791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2712" y="2706624"/>
            <a:ext cx="3566160" cy="384048"/>
          </a:xfrm>
          <a:prstGeom prst="rect">
            <a:avLst/>
          </a:prstGeom>
          <a:noFill/>
        </p:spPr>
        <p:txBody>
          <a:bodyPr wrap="square" lIns="0" rIns="0" tIns="0" bIns="0" anchor="t">
            <a:spAutoFit/>
          </a:bodyPr>
          <a:lstStyle/>
          <a:p>
            <a:pPr algn="l">
              <a:lnSpc>
                <a:spcPct val="106000"/>
              </a:lnSpc>
              <a:buNone/>
            </a:pPr>
            <a:r>
              <a:rPr sz="1700" b="1" i="0">
                <a:solidFill>
                  <a:srgbClr val="F0A422"/>
                </a:solidFill>
                <a:latin typeface="Arial"/>
              </a:rPr>
              <a:t>7 / 9</a:t>
            </a:r>
          </a:p>
        </p:txBody>
      </p:sp>
      <p:sp>
        <p:nvSpPr>
          <p:cNvPr id="14" name="TextBox 13"/>
          <p:cNvSpPr txBox="1"/>
          <p:nvPr/>
        </p:nvSpPr>
        <p:spPr>
          <a:xfrm>
            <a:off x="7982712" y="3090672"/>
            <a:ext cx="3566160" cy="502920"/>
          </a:xfrm>
          <a:prstGeom prst="rect">
            <a:avLst/>
          </a:prstGeom>
          <a:noFill/>
        </p:spPr>
        <p:txBody>
          <a:bodyPr wrap="square" lIns="0" rIns="0" tIns="0" bIns="0" anchor="t">
            <a:spAutoFit/>
          </a:bodyPr>
          <a:lstStyle/>
          <a:p>
            <a:pPr algn="l">
              <a:lnSpc>
                <a:spcPct val="108000"/>
              </a:lnSpc>
              <a:buNone/>
            </a:pPr>
            <a:r>
              <a:rPr sz="950" b="0" i="0">
                <a:solidFill>
                  <a:srgbClr val="9DAFC8"/>
                </a:solidFill>
                <a:latin typeface="Arial"/>
              </a:rPr>
              <a:t>corrupted cells where fine-tuning beats the pretrained detector</a:t>
            </a:r>
          </a:p>
        </p:txBody>
      </p:sp>
      <p:sp>
        <p:nvSpPr>
          <p:cNvPr id="15" name="Rounded Rectangle 14"/>
          <p:cNvSpPr/>
          <p:nvPr/>
        </p:nvSpPr>
        <p:spPr>
          <a:xfrm>
            <a:off x="7818120" y="3749040"/>
            <a:ext cx="386791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3840480"/>
            <a:ext cx="3566160" cy="384048"/>
          </a:xfrm>
          <a:prstGeom prst="rect">
            <a:avLst/>
          </a:prstGeom>
          <a:noFill/>
        </p:spPr>
        <p:txBody>
          <a:bodyPr wrap="square" lIns="0" rIns="0" tIns="0" bIns="0" anchor="t">
            <a:spAutoFit/>
          </a:bodyPr>
          <a:lstStyle/>
          <a:p>
            <a:pPr algn="l">
              <a:lnSpc>
                <a:spcPct val="106000"/>
              </a:lnSpc>
              <a:buNone/>
            </a:pPr>
            <a:r>
              <a:rPr sz="1700" b="1" i="0">
                <a:solidFill>
                  <a:srgbClr val="9B7BF7"/>
                </a:solidFill>
                <a:latin typeface="Arial"/>
              </a:rPr>
              <a:t>44.5%</a:t>
            </a:r>
          </a:p>
        </p:txBody>
      </p:sp>
      <p:sp>
        <p:nvSpPr>
          <p:cNvPr id="17" name="TextBox 16"/>
          <p:cNvSpPr txBox="1"/>
          <p:nvPr/>
        </p:nvSpPr>
        <p:spPr>
          <a:xfrm>
            <a:off x="7982712" y="4224528"/>
            <a:ext cx="3566160" cy="502920"/>
          </a:xfrm>
          <a:prstGeom prst="rect">
            <a:avLst/>
          </a:prstGeom>
          <a:noFill/>
        </p:spPr>
        <p:txBody>
          <a:bodyPr wrap="square" lIns="0" rIns="0" tIns="0" bIns="0" anchor="t">
            <a:spAutoFit/>
          </a:bodyPr>
          <a:lstStyle/>
          <a:p>
            <a:pPr algn="l">
              <a:lnSpc>
                <a:spcPct val="108000"/>
              </a:lnSpc>
              <a:buNone/>
            </a:pPr>
            <a:r>
              <a:rPr sz="950" b="0" i="0">
                <a:solidFill>
                  <a:srgbClr val="9DAFC8"/>
                </a:solidFill>
                <a:latin typeface="Arial"/>
              </a:rPr>
              <a:t>of the high-blur damage recovered by the stack — vs 24.9% enhancement-only, 18.3% fine-tuning-only</a:t>
            </a:r>
          </a:p>
        </p:txBody>
      </p:sp>
      <p:sp>
        <p:nvSpPr>
          <p:cNvPr id="18" name="Rounded Rectangle 17"/>
          <p:cNvSpPr/>
          <p:nvPr/>
        </p:nvSpPr>
        <p:spPr>
          <a:xfrm>
            <a:off x="7818120" y="4882896"/>
            <a:ext cx="3867912" cy="1005840"/>
          </a:xfrm>
          <a:prstGeom prst="roundRect">
            <a:avLst>
              <a:gd name="adj" fmla="val 636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4974336"/>
            <a:ext cx="3566160" cy="384048"/>
          </a:xfrm>
          <a:prstGeom prst="rect">
            <a:avLst/>
          </a:prstGeom>
          <a:noFill/>
        </p:spPr>
        <p:txBody>
          <a:bodyPr wrap="square" lIns="0" rIns="0" tIns="0" bIns="0" anchor="t">
            <a:spAutoFit/>
          </a:bodyPr>
          <a:lstStyle/>
          <a:p>
            <a:pPr algn="l">
              <a:lnSpc>
                <a:spcPct val="106000"/>
              </a:lnSpc>
              <a:buNone/>
            </a:pPr>
            <a:r>
              <a:rPr sz="1700" b="1" i="0">
                <a:solidFill>
                  <a:srgbClr val="F26D6D"/>
                </a:solidFill>
                <a:latin typeface="Arial"/>
              </a:rPr>
              <a:t>0.3521 → 0.3104</a:t>
            </a:r>
          </a:p>
        </p:txBody>
      </p:sp>
      <p:sp>
        <p:nvSpPr>
          <p:cNvPr id="20" name="TextBox 19"/>
          <p:cNvSpPr txBox="1"/>
          <p:nvPr/>
        </p:nvSpPr>
        <p:spPr>
          <a:xfrm>
            <a:off x="7982712" y="5358384"/>
            <a:ext cx="3566160" cy="502920"/>
          </a:xfrm>
          <a:prstGeom prst="rect">
            <a:avLst/>
          </a:prstGeom>
          <a:noFill/>
        </p:spPr>
        <p:txBody>
          <a:bodyPr wrap="square" lIns="0" rIns="0" tIns="0" bIns="0" anchor="t">
            <a:spAutoFit/>
          </a:bodyPr>
          <a:lstStyle/>
          <a:p>
            <a:pPr algn="l">
              <a:lnSpc>
                <a:spcPct val="108000"/>
              </a:lnSpc>
              <a:buNone/>
            </a:pPr>
            <a:r>
              <a:rPr sz="950" b="0" i="0">
                <a:solidFill>
                  <a:srgbClr val="9DAFC8"/>
                </a:solidFill>
                <a:latin typeface="Arial"/>
              </a:rPr>
              <a:t>clean mAP after fine-tuning (−0.0417) — the price of robustness</a:t>
            </a:r>
          </a:p>
        </p:txBody>
      </p:sp>
      <p:sp>
        <p:nvSpPr>
          <p:cNvPr id="21" name="TextBox 20"/>
          <p:cNvSpPr txBox="1"/>
          <p:nvPr/>
        </p:nvSpPr>
        <p:spPr>
          <a:xfrm>
            <a:off x="7818120" y="6053328"/>
            <a:ext cx="3867912" cy="457200"/>
          </a:xfrm>
          <a:prstGeom prst="rect">
            <a:avLst/>
          </a:prstGeom>
          <a:noFill/>
        </p:spPr>
        <p:txBody>
          <a:bodyPr wrap="square" lIns="0" rIns="0" tIns="0" bIns="0" anchor="t">
            <a:spAutoFit/>
          </a:bodyPr>
          <a:lstStyle/>
          <a:p>
            <a:pPr algn="l">
              <a:lnSpc>
                <a:spcPct val="110000"/>
              </a:lnSpc>
              <a:buNone/>
            </a:pPr>
            <a:r>
              <a:rPr sz="1050" b="1" i="1">
                <a:solidFill>
                  <a:srgbClr val="9B7BF7"/>
                </a:solidFill>
                <a:latin typeface="Arial"/>
              </a:rPr>
              <a:t>Stacked repair achieves the best mAP for medium and high motion blur.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RESULTS — FINE-TUNING BY SEVERITY</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Fine-tuning pays off once the domain gap is large</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13 / 14</a:t>
            </a:r>
          </a:p>
        </p:txBody>
      </p:sp>
      <p:sp>
        <p:nvSpPr>
          <p:cNvPr id="5" name="TextBox 4"/>
          <p:cNvSpPr txBox="1"/>
          <p:nvPr/>
        </p:nvSpPr>
        <p:spPr>
          <a:xfrm>
            <a:off x="502920" y="1463040"/>
            <a:ext cx="5394960" cy="274320"/>
          </a:xfrm>
          <a:prstGeom prst="rect">
            <a:avLst/>
          </a:prstGeom>
          <a:noFill/>
        </p:spPr>
        <p:txBody>
          <a:bodyPr wrap="square" lIns="0" rIns="0" tIns="0" bIns="0" anchor="t">
            <a:spAutoFit/>
          </a:bodyPr>
          <a:lstStyle/>
          <a:p>
            <a:pPr algn="l">
              <a:lnSpc>
                <a:spcPct val="106000"/>
              </a:lnSpc>
              <a:buNone/>
            </a:pPr>
            <a:r>
              <a:rPr sz="1200" b="1" i="0">
                <a:solidFill>
                  <a:srgbClr val="EAF1FA"/>
                </a:solidFill>
                <a:latin typeface="Arial"/>
              </a:rPr>
              <a:t>Measured — mean fine-tuning recovery vs pretrained (mAP)</a:t>
            </a:r>
          </a:p>
        </p:txBody>
      </p:sp>
      <p:sp>
        <p:nvSpPr>
          <p:cNvPr id="6" name="Rounded Rectangle 5"/>
          <p:cNvSpPr/>
          <p:nvPr/>
        </p:nvSpPr>
        <p:spPr>
          <a:xfrm>
            <a:off x="502920" y="1874519"/>
            <a:ext cx="5394960" cy="1115568"/>
          </a:xfrm>
          <a:prstGeom prst="roundRect">
            <a:avLst>
              <a:gd name="adj" fmla="val 5737"/>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20824"/>
            <a:ext cx="2377440" cy="274320"/>
          </a:xfrm>
          <a:prstGeom prst="rect">
            <a:avLst/>
          </a:prstGeom>
          <a:noFill/>
        </p:spPr>
        <p:txBody>
          <a:bodyPr wrap="square" lIns="0" rIns="0" tIns="0" bIns="0" anchor="t">
            <a:spAutoFit/>
          </a:bodyPr>
          <a:lstStyle/>
          <a:p>
            <a:pPr algn="l">
              <a:lnSpc>
                <a:spcPct val="106000"/>
              </a:lnSpc>
              <a:buNone/>
            </a:pPr>
            <a:r>
              <a:rPr sz="1050" b="1" i="0" spc="150">
                <a:solidFill>
                  <a:srgbClr val="9DAFC8"/>
                </a:solidFill>
                <a:latin typeface="Arial"/>
              </a:rPr>
              <a:t>LOW SEVERITY</a:t>
            </a:r>
          </a:p>
        </p:txBody>
      </p:sp>
      <p:sp>
        <p:nvSpPr>
          <p:cNvPr id="8" name="TextBox 7"/>
          <p:cNvSpPr txBox="1"/>
          <p:nvPr/>
        </p:nvSpPr>
        <p:spPr>
          <a:xfrm>
            <a:off x="685800" y="2350008"/>
            <a:ext cx="3291840" cy="502920"/>
          </a:xfrm>
          <a:prstGeom prst="rect">
            <a:avLst/>
          </a:prstGeom>
          <a:noFill/>
        </p:spPr>
        <p:txBody>
          <a:bodyPr wrap="square" lIns="0" rIns="0" tIns="0" bIns="0" anchor="t">
            <a:spAutoFit/>
          </a:bodyPr>
          <a:lstStyle/>
          <a:p>
            <a:pPr algn="l">
              <a:lnSpc>
                <a:spcPct val="110000"/>
              </a:lnSpc>
              <a:buNone/>
            </a:pPr>
            <a:r>
              <a:rPr sz="950" b="0" i="0">
                <a:solidFill>
                  <a:srgbClr val="6B7E9B"/>
                </a:solidFill>
                <a:latin typeface="Arial"/>
              </a:rPr>
              <a:t>gauss −0.010 · blur −0.012 · S&amp;P +0.008</a:t>
            </a:r>
          </a:p>
        </p:txBody>
      </p:sp>
      <p:sp>
        <p:nvSpPr>
          <p:cNvPr id="9" name="TextBox 8"/>
          <p:cNvSpPr txBox="1"/>
          <p:nvPr/>
        </p:nvSpPr>
        <p:spPr>
          <a:xfrm>
            <a:off x="3246120" y="1874519"/>
            <a:ext cx="2468880" cy="1115568"/>
          </a:xfrm>
          <a:prstGeom prst="rect">
            <a:avLst/>
          </a:prstGeom>
          <a:noFill/>
        </p:spPr>
        <p:txBody>
          <a:bodyPr wrap="square" lIns="0" rIns="0" tIns="0" bIns="0" anchor="ctr">
            <a:spAutoFit/>
          </a:bodyPr>
          <a:lstStyle/>
          <a:p>
            <a:pPr algn="r">
              <a:lnSpc>
                <a:spcPct val="106000"/>
              </a:lnSpc>
              <a:buNone/>
            </a:pPr>
            <a:r>
              <a:rPr sz="2700" b="1" i="0">
                <a:solidFill>
                  <a:srgbClr val="F26D6D"/>
                </a:solidFill>
                <a:latin typeface="Arial"/>
              </a:rPr>
              <a:t>−0.005</a:t>
            </a:r>
          </a:p>
        </p:txBody>
      </p:sp>
      <p:sp>
        <p:nvSpPr>
          <p:cNvPr id="10" name="Rounded Rectangle 9"/>
          <p:cNvSpPr/>
          <p:nvPr/>
        </p:nvSpPr>
        <p:spPr>
          <a:xfrm>
            <a:off x="502920" y="3172968"/>
            <a:ext cx="5394960" cy="1115568"/>
          </a:xfrm>
          <a:prstGeom prst="roundRect">
            <a:avLst>
              <a:gd name="adj" fmla="val 5737"/>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319272"/>
            <a:ext cx="2377440" cy="274320"/>
          </a:xfrm>
          <a:prstGeom prst="rect">
            <a:avLst/>
          </a:prstGeom>
          <a:noFill/>
        </p:spPr>
        <p:txBody>
          <a:bodyPr wrap="square" lIns="0" rIns="0" tIns="0" bIns="0" anchor="t">
            <a:spAutoFit/>
          </a:bodyPr>
          <a:lstStyle/>
          <a:p>
            <a:pPr algn="l">
              <a:lnSpc>
                <a:spcPct val="106000"/>
              </a:lnSpc>
              <a:buNone/>
            </a:pPr>
            <a:r>
              <a:rPr sz="1050" b="1" i="0" spc="150">
                <a:solidFill>
                  <a:srgbClr val="9DAFC8"/>
                </a:solidFill>
                <a:latin typeface="Arial"/>
              </a:rPr>
              <a:t>MEDIUM SEVERITY</a:t>
            </a:r>
          </a:p>
        </p:txBody>
      </p:sp>
      <p:sp>
        <p:nvSpPr>
          <p:cNvPr id="12" name="TextBox 11"/>
          <p:cNvSpPr txBox="1"/>
          <p:nvPr/>
        </p:nvSpPr>
        <p:spPr>
          <a:xfrm>
            <a:off x="685800" y="3648456"/>
            <a:ext cx="3291840" cy="502920"/>
          </a:xfrm>
          <a:prstGeom prst="rect">
            <a:avLst/>
          </a:prstGeom>
          <a:noFill/>
        </p:spPr>
        <p:txBody>
          <a:bodyPr wrap="square" lIns="0" rIns="0" tIns="0" bIns="0" anchor="t">
            <a:spAutoFit/>
          </a:bodyPr>
          <a:lstStyle/>
          <a:p>
            <a:pPr algn="l">
              <a:lnSpc>
                <a:spcPct val="110000"/>
              </a:lnSpc>
              <a:buNone/>
            </a:pPr>
            <a:r>
              <a:rPr sz="950" b="0" i="0">
                <a:solidFill>
                  <a:srgbClr val="6B7E9B"/>
                </a:solidFill>
                <a:latin typeface="Arial"/>
              </a:rPr>
              <a:t>gauss +0.039 · blur +0.054 · S&amp;P +0.088</a:t>
            </a:r>
          </a:p>
        </p:txBody>
      </p:sp>
      <p:sp>
        <p:nvSpPr>
          <p:cNvPr id="13" name="TextBox 12"/>
          <p:cNvSpPr txBox="1"/>
          <p:nvPr/>
        </p:nvSpPr>
        <p:spPr>
          <a:xfrm>
            <a:off x="3246120" y="3172968"/>
            <a:ext cx="2468880" cy="1115568"/>
          </a:xfrm>
          <a:prstGeom prst="rect">
            <a:avLst/>
          </a:prstGeom>
          <a:noFill/>
        </p:spPr>
        <p:txBody>
          <a:bodyPr wrap="square" lIns="0" rIns="0" tIns="0" bIns="0" anchor="ctr">
            <a:spAutoFit/>
          </a:bodyPr>
          <a:lstStyle/>
          <a:p>
            <a:pPr algn="r">
              <a:lnSpc>
                <a:spcPct val="106000"/>
              </a:lnSpc>
              <a:buNone/>
            </a:pPr>
            <a:r>
              <a:rPr sz="2700" b="1" i="0">
                <a:solidFill>
                  <a:srgbClr val="F0A422"/>
                </a:solidFill>
                <a:latin typeface="Arial"/>
              </a:rPr>
              <a:t>+0.060</a:t>
            </a:r>
          </a:p>
        </p:txBody>
      </p:sp>
      <p:sp>
        <p:nvSpPr>
          <p:cNvPr id="14" name="Rounded Rectangle 13"/>
          <p:cNvSpPr/>
          <p:nvPr/>
        </p:nvSpPr>
        <p:spPr>
          <a:xfrm>
            <a:off x="502920" y="4471416"/>
            <a:ext cx="5394960" cy="1115568"/>
          </a:xfrm>
          <a:prstGeom prst="roundRect">
            <a:avLst>
              <a:gd name="adj" fmla="val 5737"/>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617720"/>
            <a:ext cx="2377440" cy="274320"/>
          </a:xfrm>
          <a:prstGeom prst="rect">
            <a:avLst/>
          </a:prstGeom>
          <a:noFill/>
        </p:spPr>
        <p:txBody>
          <a:bodyPr wrap="square" lIns="0" rIns="0" tIns="0" bIns="0" anchor="t">
            <a:spAutoFit/>
          </a:bodyPr>
          <a:lstStyle/>
          <a:p>
            <a:pPr algn="l">
              <a:lnSpc>
                <a:spcPct val="106000"/>
              </a:lnSpc>
              <a:buNone/>
            </a:pPr>
            <a:r>
              <a:rPr sz="1050" b="1" i="0" spc="150">
                <a:solidFill>
                  <a:srgbClr val="9DAFC8"/>
                </a:solidFill>
                <a:latin typeface="Arial"/>
              </a:rPr>
              <a:t>HIGH SEVERITY</a:t>
            </a:r>
          </a:p>
        </p:txBody>
      </p:sp>
      <p:sp>
        <p:nvSpPr>
          <p:cNvPr id="16" name="TextBox 15"/>
          <p:cNvSpPr txBox="1"/>
          <p:nvPr/>
        </p:nvSpPr>
        <p:spPr>
          <a:xfrm>
            <a:off x="685800" y="4946904"/>
            <a:ext cx="3291840" cy="502920"/>
          </a:xfrm>
          <a:prstGeom prst="rect">
            <a:avLst/>
          </a:prstGeom>
          <a:noFill/>
        </p:spPr>
        <p:txBody>
          <a:bodyPr wrap="square" lIns="0" rIns="0" tIns="0" bIns="0" anchor="t">
            <a:spAutoFit/>
          </a:bodyPr>
          <a:lstStyle/>
          <a:p>
            <a:pPr algn="l">
              <a:lnSpc>
                <a:spcPct val="110000"/>
              </a:lnSpc>
              <a:buNone/>
            </a:pPr>
            <a:r>
              <a:rPr sz="950" b="0" i="0">
                <a:solidFill>
                  <a:srgbClr val="6B7E9B"/>
                </a:solidFill>
                <a:latin typeface="Arial"/>
              </a:rPr>
              <a:t>gauss +0.086 · blur +0.054 · S&amp;P +0.124</a:t>
            </a:r>
          </a:p>
        </p:txBody>
      </p:sp>
      <p:sp>
        <p:nvSpPr>
          <p:cNvPr id="17" name="TextBox 16"/>
          <p:cNvSpPr txBox="1"/>
          <p:nvPr/>
        </p:nvSpPr>
        <p:spPr>
          <a:xfrm>
            <a:off x="3246120" y="4471416"/>
            <a:ext cx="2468880" cy="1115568"/>
          </a:xfrm>
          <a:prstGeom prst="rect">
            <a:avLst/>
          </a:prstGeom>
          <a:noFill/>
        </p:spPr>
        <p:txBody>
          <a:bodyPr wrap="square" lIns="0" rIns="0" tIns="0" bIns="0" anchor="ctr">
            <a:spAutoFit/>
          </a:bodyPr>
          <a:lstStyle/>
          <a:p>
            <a:pPr algn="r">
              <a:lnSpc>
                <a:spcPct val="106000"/>
              </a:lnSpc>
              <a:buNone/>
            </a:pPr>
            <a:r>
              <a:rPr sz="2700" b="1" i="0">
                <a:solidFill>
                  <a:srgbClr val="F0A422"/>
                </a:solidFill>
                <a:latin typeface="Arial"/>
              </a:rPr>
              <a:t>+0.088</a:t>
            </a:r>
          </a:p>
        </p:txBody>
      </p:sp>
      <p:sp>
        <p:nvSpPr>
          <p:cNvPr id="18" name="TextBox 17"/>
          <p:cNvSpPr txBox="1"/>
          <p:nvPr/>
        </p:nvSpPr>
        <p:spPr>
          <a:xfrm>
            <a:off x="502920" y="5806440"/>
            <a:ext cx="5394960" cy="457200"/>
          </a:xfrm>
          <a:prstGeom prst="rect">
            <a:avLst/>
          </a:prstGeom>
          <a:noFill/>
        </p:spPr>
        <p:txBody>
          <a:bodyPr wrap="square" lIns="0" rIns="0" tIns="0" bIns="0" anchor="t">
            <a:spAutoFit/>
          </a:bodyPr>
          <a:lstStyle/>
          <a:p>
            <a:pPr algn="l">
              <a:lnSpc>
                <a:spcPct val="110000"/>
              </a:lnSpc>
              <a:buNone/>
            </a:pPr>
            <a:r>
              <a:rPr sz="1000" b="0" i="0">
                <a:solidFill>
                  <a:srgbClr val="6B7E9B"/>
                </a:solidFill>
                <a:latin typeface="Arial"/>
              </a:rPr>
              <a:t>Monotonic for both noise types; motion blur plateaus at ≈ +0.054 for medium and high.</a:t>
            </a:r>
          </a:p>
        </p:txBody>
      </p:sp>
      <p:sp>
        <p:nvSpPr>
          <p:cNvPr id="19" name="Rounded Rectangle 18"/>
          <p:cNvSpPr/>
          <p:nvPr/>
        </p:nvSpPr>
        <p:spPr>
          <a:xfrm>
            <a:off x="6263640" y="1554480"/>
            <a:ext cx="5422392" cy="4526280"/>
          </a:xfrm>
          <a:prstGeom prst="roundRect">
            <a:avLst>
              <a:gd name="adj" fmla="val 1414"/>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719072"/>
            <a:ext cx="5029200" cy="256032"/>
          </a:xfrm>
          <a:prstGeom prst="rect">
            <a:avLst/>
          </a:prstGeom>
          <a:noFill/>
        </p:spPr>
        <p:txBody>
          <a:bodyPr wrap="square" lIns="0" rIns="0" tIns="0" bIns="0" anchor="t">
            <a:spAutoFit/>
          </a:bodyPr>
          <a:lstStyle/>
          <a:p>
            <a:pPr algn="l">
              <a:lnSpc>
                <a:spcPct val="106000"/>
              </a:lnSpc>
              <a:buNone/>
            </a:pPr>
            <a:r>
              <a:rPr sz="1050" b="1" i="0" spc="200">
                <a:solidFill>
                  <a:srgbClr val="3EC5FF"/>
                </a:solidFill>
                <a:latin typeface="Arial"/>
              </a:rPr>
              <a:t>WHY — INTERPRETATION</a:t>
            </a:r>
          </a:p>
        </p:txBody>
      </p:sp>
      <p:sp>
        <p:nvSpPr>
          <p:cNvPr id="21" name="TextBox 20"/>
          <p:cNvSpPr txBox="1"/>
          <p:nvPr/>
        </p:nvSpPr>
        <p:spPr>
          <a:xfrm>
            <a:off x="6446520" y="2103120"/>
            <a:ext cx="5074920" cy="3840480"/>
          </a:xfrm>
          <a:prstGeom prst="rect">
            <a:avLst/>
          </a:prstGeom>
          <a:noFill/>
        </p:spPr>
        <p:txBody>
          <a:bodyPr wrap="square" lIns="0" rIns="0" tIns="0" bIns="0" anchor="t">
            <a:spAutoFit/>
          </a:bodyPr>
          <a:lstStyle/>
          <a:p>
            <a:pPr algn="l" marL="171450" indent="-171450">
              <a:lnSpc>
                <a:spcPct val="106000"/>
              </a:lnSpc>
              <a:spcAft>
                <a:spcPts val="1200"/>
              </a:spcAft>
              <a:buFont typeface="Arial"/>
              <a:buChar char="•"/>
            </a:pPr>
            <a:r>
              <a:rPr sz="1200" b="0" i="0">
                <a:solidFill>
                  <a:srgbClr val="EAF1FA"/>
                </a:solidFill>
                <a:latin typeface="Arial"/>
              </a:rPr>
              <a:t>Low severity: inputs sit close to the clean training domain — the pretrained detector is still strong, so adaptation has little headroom.</a:t>
            </a:r>
          </a:p>
          <a:p>
            <a:pPr algn="l" marL="171450" indent="-171450">
              <a:lnSpc>
                <a:spcPct val="106000"/>
              </a:lnSpc>
              <a:spcAft>
                <a:spcPts val="1200"/>
              </a:spcAft>
              <a:buFont typeface="Arial"/>
              <a:buChar char="•"/>
            </a:pPr>
            <a:r>
              <a:rPr sz="1200" b="0" i="0">
                <a:solidFill>
                  <a:srgbClr val="EAF1FA"/>
                </a:solidFill>
                <a:latin typeface="Arial"/>
              </a:rPr>
              <a:t>Fine-tuning trades clean accuracy (−0.042 mAP) for corruption robustness; at low severity that trade can net out slightly negative.</a:t>
            </a:r>
          </a:p>
          <a:p>
            <a:pPr algn="l" marL="171450" indent="-171450">
              <a:lnSpc>
                <a:spcPct val="106000"/>
              </a:lnSpc>
              <a:spcAft>
                <a:spcPts val="1200"/>
              </a:spcAft>
              <a:buFont typeface="Arial"/>
              <a:buChar char="•"/>
            </a:pPr>
            <a:r>
              <a:rPr sz="1200" b="0" i="0">
                <a:solidFill>
                  <a:srgbClr val="EAF1FA"/>
                </a:solidFill>
                <a:latin typeface="Arial"/>
              </a:rPr>
              <a:t>Medium / high severity: the domain gap grows, so training on corrupted + restored examples pays off (+0.060 / +0.088).</a:t>
            </a:r>
          </a:p>
          <a:p>
            <a:pPr algn="l" marL="171450" indent="-171450">
              <a:lnSpc>
                <a:spcPct val="106000"/>
              </a:lnSpc>
              <a:spcAft>
                <a:spcPts val="1200"/>
              </a:spcAft>
              <a:buFont typeface="Arial"/>
              <a:buChar char="•"/>
            </a:pPr>
            <a:r>
              <a:rPr sz="1200" b="0" i="0">
                <a:solidFill>
                  <a:srgbClr val="EAF1FA"/>
                </a:solidFill>
                <a:latin typeface="Arial"/>
              </a:rPr>
              <a:t>The motion-blur plateau marks the limit of adaptation: no amount of fine-tuning reconstructs spatial information the blur kernel destroyed.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CONCLUSIONS &amp; LIMITATIONS</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Match the repair to the corruption — and know when to stack</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14 / 14</a:t>
            </a:r>
          </a:p>
        </p:txBody>
      </p:sp>
      <p:sp>
        <p:nvSpPr>
          <p:cNvPr id="5" name="Rounded Rectangle 4"/>
          <p:cNvSpPr/>
          <p:nvPr/>
        </p:nvSpPr>
        <p:spPr>
          <a:xfrm>
            <a:off x="502920" y="1463040"/>
            <a:ext cx="6720840" cy="4343400"/>
          </a:xfrm>
          <a:prstGeom prst="roundRect">
            <a:avLst>
              <a:gd name="adj" fmla="val 1473"/>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27632"/>
            <a:ext cx="5029200" cy="256032"/>
          </a:xfrm>
          <a:prstGeom prst="rect">
            <a:avLst/>
          </a:prstGeom>
          <a:noFill/>
        </p:spPr>
        <p:txBody>
          <a:bodyPr wrap="square" lIns="0" rIns="0" tIns="0" bIns="0" anchor="t">
            <a:spAutoFit/>
          </a:bodyPr>
          <a:lstStyle/>
          <a:p>
            <a:pPr algn="l">
              <a:lnSpc>
                <a:spcPct val="106000"/>
              </a:lnSpc>
              <a:buNone/>
            </a:pPr>
            <a:r>
              <a:rPr sz="1050" b="1" i="0" spc="200">
                <a:solidFill>
                  <a:srgbClr val="1FA971"/>
                </a:solidFill>
                <a:latin typeface="Arial"/>
              </a:rPr>
              <a:t>TAKEAWAYS — MEASURED</a:t>
            </a:r>
          </a:p>
        </p:txBody>
      </p:sp>
      <p:sp>
        <p:nvSpPr>
          <p:cNvPr id="7" name="TextBox 6"/>
          <p:cNvSpPr txBox="1"/>
          <p:nvPr/>
        </p:nvSpPr>
        <p:spPr>
          <a:xfrm>
            <a:off x="713232" y="2011680"/>
            <a:ext cx="6309360" cy="3657600"/>
          </a:xfrm>
          <a:prstGeom prst="rect">
            <a:avLst/>
          </a:prstGeom>
          <a:noFill/>
        </p:spPr>
        <p:txBody>
          <a:bodyPr wrap="square" lIns="0" rIns="0" tIns="0" bIns="0" anchor="t">
            <a:spAutoFit/>
          </a:bodyPr>
          <a:lstStyle/>
          <a:p>
            <a:pPr algn="l" marL="228600" indent="-228600">
              <a:lnSpc>
                <a:spcPct val="112000"/>
              </a:lnSpc>
              <a:spcAft>
                <a:spcPts val="1200"/>
              </a:spcAft>
              <a:buFont typeface="Arial"/>
              <a:buAutoNum type="arabicPeriod"/>
            </a:pPr>
            <a:r>
              <a:rPr sz="1250" b="0" i="0">
                <a:solidFill>
                  <a:srgbClr val="EAF1FA"/>
                </a:solidFill>
                <a:latin typeface="Arial"/>
              </a:rPr>
              <a:t>Matched classical enhancement is the strongest standalone detection repair in all 9 cells — and improves all 36 cells across the four tasks.</a:t>
            </a:r>
          </a:p>
          <a:p>
            <a:pPr algn="l" marL="228600" indent="-228600">
              <a:lnSpc>
                <a:spcPct val="112000"/>
              </a:lnSpc>
              <a:spcAft>
                <a:spcPts val="1200"/>
              </a:spcAft>
              <a:buFont typeface="Arial"/>
              <a:buAutoNum type="arabicPeriod"/>
            </a:pPr>
            <a:r>
              <a:rPr sz="1250" b="0" i="0">
                <a:solidFill>
                  <a:srgbClr val="EAF1FA"/>
                </a:solidFill>
                <a:latin typeface="Arial"/>
              </a:rPr>
              <a:t>One enhancement pipeline generalized to all four tasks with no retraining; fine-tuning applied only to YOLOv8n detection.</a:t>
            </a:r>
          </a:p>
          <a:p>
            <a:pPr algn="l" marL="228600" indent="-228600">
              <a:lnSpc>
                <a:spcPct val="112000"/>
              </a:lnSpc>
              <a:spcAft>
                <a:spcPts val="1200"/>
              </a:spcAft>
              <a:buFont typeface="Arial"/>
              <a:buAutoNum type="arabicPeriod"/>
            </a:pPr>
            <a:r>
              <a:rPr sz="1250" b="0" i="0">
                <a:solidFill>
                  <a:srgbClr val="EAF1FA"/>
                </a:solidFill>
                <a:latin typeface="Arial"/>
              </a:rPr>
              <a:t>Fine-tuning is complementary: most valuable at high severity, and best overall when stacked on medium / high motion blur.</a:t>
            </a:r>
          </a:p>
          <a:p>
            <a:pPr algn="l" marL="228600" indent="-228600">
              <a:lnSpc>
                <a:spcPct val="112000"/>
              </a:lnSpc>
              <a:spcAft>
                <a:spcPts val="1200"/>
              </a:spcAft>
              <a:buFont typeface="Arial"/>
              <a:buAutoNum type="arabicPeriod"/>
            </a:pPr>
            <a:r>
              <a:rPr sz="1250" b="0" i="0">
                <a:solidFill>
                  <a:srgbClr val="EAF1FA"/>
                </a:solidFill>
                <a:latin typeface="Arial"/>
              </a:rPr>
              <a:t>SNR ranks severities within a corruption family, but not damage across mechanisms — structure loss is what hurts geometry-sensitive tasks.</a:t>
            </a:r>
          </a:p>
        </p:txBody>
      </p:sp>
      <p:sp>
        <p:nvSpPr>
          <p:cNvPr id="8" name="Rounded Rectangle 7"/>
          <p:cNvSpPr/>
          <p:nvPr/>
        </p:nvSpPr>
        <p:spPr>
          <a:xfrm>
            <a:off x="7543800" y="1463040"/>
            <a:ext cx="4142232" cy="4343400"/>
          </a:xfrm>
          <a:prstGeom prst="roundRect">
            <a:avLst>
              <a:gd name="adj" fmla="val 1545"/>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27632"/>
            <a:ext cx="3657600" cy="256032"/>
          </a:xfrm>
          <a:prstGeom prst="rect">
            <a:avLst/>
          </a:prstGeom>
          <a:noFill/>
        </p:spPr>
        <p:txBody>
          <a:bodyPr wrap="square" lIns="0" rIns="0" tIns="0" bIns="0" anchor="t">
            <a:spAutoFit/>
          </a:bodyPr>
          <a:lstStyle/>
          <a:p>
            <a:pPr algn="l">
              <a:lnSpc>
                <a:spcPct val="106000"/>
              </a:lnSpc>
              <a:buNone/>
            </a:pPr>
            <a:r>
              <a:rPr sz="1050" b="1" i="0" spc="200">
                <a:solidFill>
                  <a:srgbClr val="F26D6D"/>
                </a:solidFill>
                <a:latin typeface="Arial"/>
              </a:rPr>
              <a:t>LIMITATIONS</a:t>
            </a:r>
          </a:p>
        </p:txBody>
      </p:sp>
      <p:sp>
        <p:nvSpPr>
          <p:cNvPr id="10" name="TextBox 9"/>
          <p:cNvSpPr txBox="1"/>
          <p:nvPr/>
        </p:nvSpPr>
        <p:spPr>
          <a:xfrm>
            <a:off x="7726679" y="2011680"/>
            <a:ext cx="3794760" cy="3566160"/>
          </a:xfrm>
          <a:prstGeom prst="rect">
            <a:avLst/>
          </a:prstGeom>
          <a:noFill/>
        </p:spPr>
        <p:txBody>
          <a:bodyPr wrap="square" lIns="0" rIns="0" tIns="0" bIns="0" anchor="t">
            <a:spAutoFit/>
          </a:bodyPr>
          <a:lstStyle/>
          <a:p>
            <a:pPr algn="l" marL="171450" indent="-171450">
              <a:lnSpc>
                <a:spcPct val="106000"/>
              </a:lnSpc>
              <a:spcAft>
                <a:spcPts val="1200"/>
              </a:spcAft>
              <a:buFont typeface="Arial"/>
              <a:buChar char="•"/>
            </a:pPr>
            <a:r>
              <a:rPr sz="1150" b="0" i="0">
                <a:solidFill>
                  <a:srgbClr val="EAF1FA"/>
                </a:solidFill>
                <a:latin typeface="Arial"/>
              </a:rPr>
              <a:t>Synthetic, global, spatially uniform corruptions only</a:t>
            </a:r>
          </a:p>
          <a:p>
            <a:pPr algn="l" marL="171450" indent="-171450">
              <a:lnSpc>
                <a:spcPct val="106000"/>
              </a:lnSpc>
              <a:spcAft>
                <a:spcPts val="1200"/>
              </a:spcAft>
              <a:buFont typeface="Arial"/>
              <a:buChar char="•"/>
            </a:pPr>
            <a:r>
              <a:rPr sz="1150" b="0" i="0">
                <a:solidFill>
                  <a:srgbClr val="EAF1FA"/>
                </a:solidFill>
                <a:latin typeface="Arial"/>
              </a:rPr>
              <a:t>Restoration is non-blind — BM3D / Wiener use recorded corruption parameters</a:t>
            </a:r>
          </a:p>
          <a:p>
            <a:pPr algn="l" marL="171450" indent="-171450">
              <a:lnSpc>
                <a:spcPct val="106000"/>
              </a:lnSpc>
              <a:spcAft>
                <a:spcPts val="1200"/>
              </a:spcAft>
              <a:buFont typeface="Arial"/>
              <a:buChar char="•"/>
            </a:pPr>
            <a:r>
              <a:rPr sz="1150" b="0" i="0">
                <a:solidFill>
                  <a:srgbClr val="EAF1FA"/>
                </a:solidFill>
                <a:latin typeface="Arial"/>
              </a:rPr>
              <a:t>Fine-tuning evaluated only for YOLOv8n detection</a:t>
            </a:r>
          </a:p>
          <a:p>
            <a:pPr algn="l" marL="171450" indent="-171450">
              <a:lnSpc>
                <a:spcPct val="106000"/>
              </a:lnSpc>
              <a:spcAft>
                <a:spcPts val="1200"/>
              </a:spcAft>
              <a:buFont typeface="Arial"/>
              <a:buChar char="•"/>
            </a:pPr>
            <a:r>
              <a:rPr sz="1150" b="0" i="0">
                <a:solidFill>
                  <a:srgbClr val="EAF1FA"/>
                </a:solidFill>
                <a:latin typeface="Arial"/>
              </a:rPr>
              <a:t>Mixed, spatially varying, or unseen real-world corruptions were not evaluated — conclusions do not extend to them</a:t>
            </a:r>
          </a:p>
        </p:txBody>
      </p:sp>
      <p:sp>
        <p:nvSpPr>
          <p:cNvPr id="11" name="TextBox 10"/>
          <p:cNvSpPr txBox="1"/>
          <p:nvPr/>
        </p:nvSpPr>
        <p:spPr>
          <a:xfrm>
            <a:off x="502920" y="6035040"/>
            <a:ext cx="11183112" cy="365760"/>
          </a:xfrm>
          <a:prstGeom prst="rect">
            <a:avLst/>
          </a:prstGeom>
          <a:noFill/>
        </p:spPr>
        <p:txBody>
          <a:bodyPr wrap="square" lIns="0" rIns="0" tIns="0" bIns="0" anchor="t">
            <a:spAutoFit/>
          </a:bodyPr>
          <a:lstStyle/>
          <a:p>
            <a:pPr algn="l">
              <a:lnSpc>
                <a:spcPct val="106000"/>
              </a:lnSpc>
              <a:buNone/>
            </a:pPr>
            <a:r>
              <a:rPr sz="1150" b="0" i="1">
                <a:solidFill>
                  <a:srgbClr val="3EC5FF"/>
                </a:solidFill>
                <a:latin typeface="Arial"/>
              </a:rPr>
              <a:t>Practical rule of thumb: corruption known &amp; parameterizable → restore classically · heavy, partly irreversible → stack both · unknown at inference → adapt the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APPENDIX A</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Full results — every task × corruption × severity cell</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A1</a:t>
            </a:r>
          </a:p>
        </p:txBody>
      </p:sp>
      <p:graphicFrame>
        <p:nvGraphicFramePr>
          <p:cNvPr id="5" name="Table 4"/>
          <p:cNvGraphicFramePr>
            <a:graphicFrameLocks noGrp="1"/>
          </p:cNvGraphicFramePr>
          <p:nvPr/>
        </p:nvGraphicFramePr>
        <p:xfrm>
          <a:off x="915771" y="1353312"/>
          <a:ext cx="10360152" cy="4469580"/>
        </p:xfrm>
        <a:graphic>
          <a:graphicData uri="http://schemas.openxmlformats.org/drawingml/2006/table">
            <a:tbl>
              <a:tblPr>
                <a:tableStyleId>{5C22544A-7EE6-4342-B048-85BDC9FD1C3A}</a:tableStyleId>
              </a:tblPr>
              <a:tblGrid>
                <a:gridCol w="1024128"/>
                <a:gridCol w="969264"/>
                <a:gridCol w="502920"/>
                <a:gridCol w="658368"/>
                <a:gridCol w="603504"/>
                <a:gridCol w="749808"/>
                <a:gridCol w="749808"/>
                <a:gridCol w="786384"/>
                <a:gridCol w="749808"/>
                <a:gridCol w="932688"/>
                <a:gridCol w="896112"/>
                <a:gridCol w="841248"/>
                <a:gridCol w="896112"/>
              </a:tblGrid>
              <a:tr h="256032">
                <a:tc>
                  <a:txBody>
                    <a:bodyPr wrap="none"/>
                    <a:lstStyle/>
                    <a:p>
                      <a:pPr algn="l">
                        <a:lnSpc>
                          <a:spcPct val="100000"/>
                        </a:lnSpc>
                        <a:spcAft>
                          <a:spcPts val="0"/>
                        </a:spcAft>
                        <a:buNone/>
                      </a:pPr>
                      <a:r>
                        <a:rPr sz="800" b="1">
                          <a:solidFill>
                            <a:srgbClr val="9DAFC8"/>
                          </a:solidFill>
                          <a:latin typeface="Arial"/>
                        </a:rPr>
                        <a:t>task</a:t>
                      </a:r>
                    </a:p>
                  </a:txBody>
                  <a:tcPr marL="27432" marR="27432" marT="7315" marB="7315" anchor="ctr">
                    <a:solidFill>
                      <a:srgbClr val="0F1830"/>
                    </a:solidFill>
                  </a:tcPr>
                </a:tc>
                <a:tc>
                  <a:txBody>
                    <a:bodyPr wrap="none"/>
                    <a:lstStyle/>
                    <a:p>
                      <a:pPr algn="l">
                        <a:lnSpc>
                          <a:spcPct val="100000"/>
                        </a:lnSpc>
                        <a:spcAft>
                          <a:spcPts val="0"/>
                        </a:spcAft>
                        <a:buNone/>
                      </a:pPr>
                      <a:r>
                        <a:rPr sz="800" b="1">
                          <a:solidFill>
                            <a:srgbClr val="9DAFC8"/>
                          </a:solidFill>
                          <a:latin typeface="Arial"/>
                        </a:rPr>
                        <a:t>distortion</a:t>
                      </a:r>
                    </a:p>
                  </a:txBody>
                  <a:tcPr marL="27432" marR="27432" marT="7315" marB="7315" anchor="ctr">
                    <a:solidFill>
                      <a:srgbClr val="0F1830"/>
                    </a:solidFill>
                  </a:tcPr>
                </a:tc>
                <a:tc>
                  <a:txBody>
                    <a:bodyPr wrap="none"/>
                    <a:lstStyle/>
                    <a:p>
                      <a:pPr algn="l">
                        <a:lnSpc>
                          <a:spcPct val="100000"/>
                        </a:lnSpc>
                        <a:spcAft>
                          <a:spcPts val="0"/>
                        </a:spcAft>
                        <a:buNone/>
                      </a:pPr>
                      <a:r>
                        <a:rPr sz="800" b="1">
                          <a:solidFill>
                            <a:srgbClr val="9DAFC8"/>
                          </a:solidFill>
                          <a:latin typeface="Arial"/>
                        </a:rPr>
                        <a:t>sev</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SNR (dB)</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clean</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distorted</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enhanced</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fine-tuned</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ft + enh</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degradation</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rec (enh)</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rec (FT)</a:t>
                      </a:r>
                    </a:p>
                  </a:txBody>
                  <a:tcPr marL="27432" marR="27432" marT="7315" marB="7315" anchor="ctr">
                    <a:solidFill>
                      <a:srgbClr val="0F1830"/>
                    </a:solidFill>
                  </a:tcPr>
                </a:tc>
                <a:tc>
                  <a:txBody>
                    <a:bodyPr wrap="none"/>
                    <a:lstStyle/>
                    <a:p>
                      <a:pPr algn="r">
                        <a:lnSpc>
                          <a:spcPct val="100000"/>
                        </a:lnSpc>
                        <a:spcAft>
                          <a:spcPts val="0"/>
                        </a:spcAft>
                        <a:buNone/>
                      </a:pPr>
                      <a:r>
                        <a:rPr sz="800" b="1">
                          <a:solidFill>
                            <a:srgbClr val="9DAFC8"/>
                          </a:solidFill>
                          <a:latin typeface="Arial"/>
                        </a:rPr>
                        <a:t>rec (comb)</a:t>
                      </a:r>
                    </a:p>
                  </a:txBody>
                  <a:tcPr marL="27432" marR="27432" marT="7315" marB="7315" anchor="ctr">
                    <a:solidFill>
                      <a:srgbClr val="0F1830"/>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19.5</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0.293</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0.336</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0.282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0.299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−0.059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+0.044</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−0.010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+0.006</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13.9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0.201</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0.312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0.240</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0.279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−0.151</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+0.111</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+0.039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+0.078</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10.0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0.097</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0.269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0.183</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0.246</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−0.255</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+0.172</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+0.086</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+0.149</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20.8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0.294</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0.334</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0.282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0.299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−0.058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+0.039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−0.012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+0.005</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17.7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0.157</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0.257</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0.211</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0.261</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−0.195</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+0.100</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+0.054</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+0.104</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15.6</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0.059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0.132</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0.113</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0.189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−0.293</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+0.073</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+0.054</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+0.131</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18.7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0.284</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0.339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0.292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0.299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−0.068</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+0.055</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+0.008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+0.015</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11.8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0.167</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0.336</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0.255</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0.297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−0.185</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+0.169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+0.088</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+0.130</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detection</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8.2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0.352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0.079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0.321</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0.202</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0.288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−0.274</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+0.242</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+0.124</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+0.210</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19.5</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0.834</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0.847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−0.166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+0.013</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13.9</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0.731</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0.758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−0.269</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+0.027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0.616</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0.658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−0.384</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+0.042</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20.8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0.643</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0.781</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−0.357</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+0.138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17.7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0.399</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0.626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−0.601</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+0.227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15.6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0.197</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0.476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−0.803</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+0.280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18.7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0.554</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0.705</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−0.446</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+0.151</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11.8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0.404</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0.692</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−0.596</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+0.288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features</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8.2</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0.326</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0.662</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−0.674</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+0.336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19.5</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0.590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0.619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−0.068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+0.029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13.9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0.489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0.555</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−0.168</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+0.066</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10.0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0.369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0.479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−0.288</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+0.110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20.8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0.578</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0.620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−0.080</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+0.043</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17.7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0.386</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0.524</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−0.272</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+0.138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15.6</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0.159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0.387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−0.499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+0.229</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18.7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0.590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0.623</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−0.068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+0.034</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11.8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0.438</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0.614</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−0.219</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+0.176</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keypoints</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21C2F"/>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8.2</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0.657</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0.348</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EAF1FA"/>
                          </a:solidFill>
                          <a:latin typeface="Arial"/>
                        </a:rPr>
                        <a:t>0.598</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9DAFC8"/>
                          </a:solidFill>
                          <a:latin typeface="Arial"/>
                        </a:rPr>
                        <a:t>−0.310</a:t>
                      </a:r>
                    </a:p>
                  </a:txBody>
                  <a:tcPr marL="27432" marR="27432" marT="7315" marB="7315" anchor="ctr">
                    <a:solidFill>
                      <a:srgbClr val="121C2F"/>
                    </a:solidFill>
                  </a:tcPr>
                </a:tc>
                <a:tc>
                  <a:txBody>
                    <a:bodyPr wrap="none"/>
                    <a:lstStyle/>
                    <a:p>
                      <a:pPr algn="r">
                        <a:lnSpc>
                          <a:spcPct val="100000"/>
                        </a:lnSpc>
                        <a:spcAft>
                          <a:spcPts val="0"/>
                        </a:spcAft>
                        <a:buNone/>
                      </a:pPr>
                      <a:r>
                        <a:rPr sz="750" b="1">
                          <a:solidFill>
                            <a:srgbClr val="7FE0B0"/>
                          </a:solidFill>
                          <a:latin typeface="Arial"/>
                        </a:rPr>
                        <a:t>+0.250</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21C2F"/>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19.5</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0.359</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0.386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−0.050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+0.027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13.9</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0.294</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0.350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−0.116</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+0.056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gauss_noise</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10.0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0.209</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0.299</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−0.201</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+0.090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20.8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0.354</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0.385</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−0.056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+0.031</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17.7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0.231</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0.311</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−0.179</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+0.081</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motion_blur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15.6</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0.123</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0.204</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−0.287</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+0.081</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low</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18.7</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0.290</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0.378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−0.120</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+0.088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med</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11.8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0.150</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0.373</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−0.260</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+0.223</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r h="117043">
                <a:tc>
                  <a:txBody>
                    <a:bodyPr wrap="none"/>
                    <a:lstStyle/>
                    <a:p>
                      <a:pPr algn="l">
                        <a:lnSpc>
                          <a:spcPct val="100000"/>
                        </a:lnSpc>
                        <a:spcAft>
                          <a:spcPts val="0"/>
                        </a:spcAft>
                        <a:buNone/>
                      </a:pPr>
                      <a:r>
                        <a:rPr sz="750" b="0">
                          <a:solidFill>
                            <a:srgbClr val="EAF1FA"/>
                          </a:solidFill>
                          <a:latin typeface="Arial"/>
                        </a:rPr>
                        <a:t>segmentation</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salt_pepper</a:t>
                      </a:r>
                    </a:p>
                  </a:txBody>
                  <a:tcPr marL="27432" marR="27432" marT="7315" marB="7315" anchor="ctr">
                    <a:solidFill>
                      <a:srgbClr val="16233A"/>
                    </a:solidFill>
                  </a:tcPr>
                </a:tc>
                <a:tc>
                  <a:txBody>
                    <a:bodyPr wrap="none"/>
                    <a:lstStyle/>
                    <a:p>
                      <a:pPr algn="l">
                        <a:lnSpc>
                          <a:spcPct val="100000"/>
                        </a:lnSpc>
                        <a:spcAft>
                          <a:spcPts val="0"/>
                        </a:spcAft>
                        <a:buNone/>
                      </a:pPr>
                      <a:r>
                        <a:rPr sz="750" b="0">
                          <a:solidFill>
                            <a:srgbClr val="9DAFC8"/>
                          </a:solidFill>
                          <a:latin typeface="Arial"/>
                        </a:rPr>
                        <a:t>high</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8.2</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0.410</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0.105</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EAF1FA"/>
                          </a:solidFill>
                          <a:latin typeface="Arial"/>
                        </a:rPr>
                        <a:t>0.348</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9DAFC8"/>
                          </a:solidFill>
                          <a:latin typeface="Arial"/>
                        </a:rPr>
                        <a:t>−0.304</a:t>
                      </a:r>
                    </a:p>
                  </a:txBody>
                  <a:tcPr marL="27432" marR="27432" marT="7315" marB="7315" anchor="ctr">
                    <a:solidFill>
                      <a:srgbClr val="16233A"/>
                    </a:solidFill>
                  </a:tcPr>
                </a:tc>
                <a:tc>
                  <a:txBody>
                    <a:bodyPr wrap="none"/>
                    <a:lstStyle/>
                    <a:p>
                      <a:pPr algn="r">
                        <a:lnSpc>
                          <a:spcPct val="100000"/>
                        </a:lnSpc>
                        <a:spcAft>
                          <a:spcPts val="0"/>
                        </a:spcAft>
                        <a:buNone/>
                      </a:pPr>
                      <a:r>
                        <a:rPr sz="750" b="1">
                          <a:solidFill>
                            <a:srgbClr val="7FE0B0"/>
                          </a:solidFill>
                          <a:latin typeface="Arial"/>
                        </a:rPr>
                        <a:t>+0.243</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c>
                  <a:txBody>
                    <a:bodyPr wrap="none"/>
                    <a:lstStyle/>
                    <a:p>
                      <a:pPr algn="r">
                        <a:lnSpc>
                          <a:spcPct val="100000"/>
                        </a:lnSpc>
                        <a:spcAft>
                          <a:spcPts val="0"/>
                        </a:spcAft>
                        <a:buNone/>
                      </a:pPr>
                      <a:r>
                        <a:rPr sz="750" b="0">
                          <a:solidFill>
                            <a:srgbClr val="6B7E9B"/>
                          </a:solidFill>
                          <a:latin typeface="Arial"/>
                        </a:rPr>
                        <a:t>—</a:t>
                      </a:r>
                    </a:p>
                  </a:txBody>
                  <a:tcPr marL="27432" marR="27432" marT="7315" marB="7315" anchor="ctr">
                    <a:solidFill>
                      <a:srgbClr val="16233A"/>
                    </a:solidFill>
                  </a:tcPr>
                </a:tc>
              </a:tr>
            </a:tbl>
          </a:graphicData>
        </a:graphic>
      </p:graphicFrame>
      <p:sp>
        <p:nvSpPr>
          <p:cNvPr id="6" name="TextBox 5"/>
          <p:cNvSpPr txBox="1"/>
          <p:nvPr/>
        </p:nvSpPr>
        <p:spPr>
          <a:xfrm>
            <a:off x="915771" y="6419088"/>
            <a:ext cx="10360152" cy="274320"/>
          </a:xfrm>
          <a:prstGeom prst="rect">
            <a:avLst/>
          </a:prstGeom>
          <a:noFill/>
        </p:spPr>
        <p:txBody>
          <a:bodyPr wrap="square" lIns="0" rIns="0" tIns="0" bIns="0" anchor="t">
            <a:spAutoFit/>
          </a:bodyPr>
          <a:lstStyle/>
          <a:p>
            <a:pPr algn="l">
              <a:lnSpc>
                <a:spcPct val="106000"/>
              </a:lnSpc>
              <a:buNone/>
            </a:pPr>
            <a:r>
              <a:rPr sz="900" b="0" i="0">
                <a:solidFill>
                  <a:srgbClr val="6B7E9B"/>
                </a:solidFill>
                <a:latin typeface="Arial"/>
              </a:rPr>
              <a:t>Bold = recovery ≥ +0.04 · “—” = not applicable (fine-tuning is detection-only) · same 1,521 images and GT in every row.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74320"/>
            <a:ext cx="9601200" cy="274320"/>
          </a:xfrm>
          <a:prstGeom prst="rect">
            <a:avLst/>
          </a:prstGeom>
          <a:noFill/>
        </p:spPr>
        <p:txBody>
          <a:bodyPr wrap="square" lIns="0" rIns="0" tIns="0" bIns="0" anchor="t">
            <a:spAutoFit/>
          </a:bodyPr>
          <a:lstStyle/>
          <a:p>
            <a:pPr algn="l">
              <a:lnSpc>
                <a:spcPct val="106000"/>
              </a:lnSpc>
              <a:buNone/>
            </a:pPr>
            <a:r>
              <a:rPr sz="1050" b="1" i="0" spc="250">
                <a:solidFill>
                  <a:srgbClr val="3EC5FF"/>
                </a:solidFill>
                <a:latin typeface="Arial"/>
              </a:rPr>
              <a:t>APPENDIX B</a:t>
            </a:r>
          </a:p>
        </p:txBody>
      </p:sp>
      <p:sp>
        <p:nvSpPr>
          <p:cNvPr id="3" name="TextBox 2"/>
          <p:cNvSpPr txBox="1"/>
          <p:nvPr/>
        </p:nvSpPr>
        <p:spPr>
          <a:xfrm>
            <a:off x="502920" y="530352"/>
            <a:ext cx="10607040" cy="621792"/>
          </a:xfrm>
          <a:prstGeom prst="rect">
            <a:avLst/>
          </a:prstGeom>
          <a:noFill/>
        </p:spPr>
        <p:txBody>
          <a:bodyPr wrap="square" lIns="0" rIns="0" tIns="0" bIns="0" anchor="t">
            <a:spAutoFit/>
          </a:bodyPr>
          <a:lstStyle/>
          <a:p>
            <a:pPr algn="l">
              <a:lnSpc>
                <a:spcPct val="106000"/>
              </a:lnSpc>
              <a:buNone/>
            </a:pPr>
            <a:r>
              <a:rPr sz="2500" b="1" i="0">
                <a:solidFill>
                  <a:srgbClr val="EAF1FA"/>
                </a:solidFill>
                <a:latin typeface="Arial"/>
              </a:rPr>
              <a:t>Additional evidence — remaining curves and per-class comparison</a:t>
            </a:r>
          </a:p>
        </p:txBody>
      </p:sp>
      <p:sp>
        <p:nvSpPr>
          <p:cNvPr id="4" name="TextBox 3"/>
          <p:cNvSpPr txBox="1"/>
          <p:nvPr/>
        </p:nvSpPr>
        <p:spPr>
          <a:xfrm>
            <a:off x="11137392" y="292608"/>
            <a:ext cx="731520" cy="274320"/>
          </a:xfrm>
          <a:prstGeom prst="rect">
            <a:avLst/>
          </a:prstGeom>
          <a:noFill/>
        </p:spPr>
        <p:txBody>
          <a:bodyPr wrap="square" lIns="0" rIns="0" tIns="0" bIns="0" anchor="t">
            <a:spAutoFit/>
          </a:bodyPr>
          <a:lstStyle/>
          <a:p>
            <a:pPr algn="r">
              <a:lnSpc>
                <a:spcPct val="106000"/>
              </a:lnSpc>
              <a:buNone/>
            </a:pPr>
            <a:r>
              <a:rPr sz="950" b="0" i="0">
                <a:solidFill>
                  <a:srgbClr val="6B7E9B"/>
                </a:solidFill>
                <a:latin typeface="Arial"/>
              </a:rPr>
              <a:t>A2</a:t>
            </a:r>
          </a:p>
        </p:txBody>
      </p:sp>
      <p:sp>
        <p:nvSpPr>
          <p:cNvPr id="5" name="Rounded Rectangle 4"/>
          <p:cNvSpPr/>
          <p:nvPr/>
        </p:nvSpPr>
        <p:spPr>
          <a:xfrm>
            <a:off x="502920" y="1371600"/>
            <a:ext cx="5550408" cy="1837943"/>
          </a:xfrm>
          <a:prstGeom prst="roundRect">
            <a:avLst>
              <a:gd name="adj" fmla="val 3482"/>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08.png"/>
          <p:cNvPicPr>
            <a:picLocks noChangeAspect="1"/>
          </p:cNvPicPr>
          <p:nvPr/>
        </p:nvPicPr>
        <p:blipFill>
          <a:blip r:embed="rId2"/>
          <a:stretch>
            <a:fillRect/>
          </a:stretch>
        </p:blipFill>
        <p:spPr>
          <a:xfrm>
            <a:off x="557784" y="1426464"/>
            <a:ext cx="5440680" cy="1728216"/>
          </a:xfrm>
          <a:prstGeom prst="rect">
            <a:avLst/>
          </a:prstGeom>
        </p:spPr>
      </p:pic>
      <p:sp>
        <p:nvSpPr>
          <p:cNvPr id="7" name="Rounded Rectangle 6"/>
          <p:cNvSpPr/>
          <p:nvPr/>
        </p:nvSpPr>
        <p:spPr>
          <a:xfrm>
            <a:off x="6190488" y="1371600"/>
            <a:ext cx="5550408" cy="1837943"/>
          </a:xfrm>
          <a:prstGeom prst="roundRect">
            <a:avLst>
              <a:gd name="adj" fmla="val 3482"/>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09.png"/>
          <p:cNvPicPr>
            <a:picLocks noChangeAspect="1"/>
          </p:cNvPicPr>
          <p:nvPr/>
        </p:nvPicPr>
        <p:blipFill>
          <a:blip r:embed="rId3"/>
          <a:stretch>
            <a:fillRect/>
          </a:stretch>
        </p:blipFill>
        <p:spPr>
          <a:xfrm>
            <a:off x="6245352" y="1426464"/>
            <a:ext cx="5440680" cy="1728216"/>
          </a:xfrm>
          <a:prstGeom prst="rect">
            <a:avLst/>
          </a:prstGeom>
        </p:spPr>
      </p:pic>
      <p:sp>
        <p:nvSpPr>
          <p:cNvPr id="9" name="Rounded Rectangle 8"/>
          <p:cNvSpPr/>
          <p:nvPr/>
        </p:nvSpPr>
        <p:spPr>
          <a:xfrm>
            <a:off x="502920" y="3511296"/>
            <a:ext cx="8613648" cy="3145536"/>
          </a:xfrm>
          <a:prstGeom prst="roundRect">
            <a:avLst>
              <a:gd name="adj" fmla="val 2034"/>
            </a:avLst>
          </a:prstGeom>
          <a:solidFill>
            <a:srgbClr val="FFFFF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c_gn.png"/>
          <p:cNvPicPr>
            <a:picLocks noChangeAspect="1"/>
          </p:cNvPicPr>
          <p:nvPr/>
        </p:nvPicPr>
        <p:blipFill>
          <a:blip r:embed="rId4"/>
          <a:stretch>
            <a:fillRect/>
          </a:stretch>
        </p:blipFill>
        <p:spPr>
          <a:xfrm>
            <a:off x="557784" y="3566160"/>
            <a:ext cx="8503920" cy="3035808"/>
          </a:xfrm>
          <a:prstGeom prst="rect">
            <a:avLst/>
          </a:prstGeom>
        </p:spPr>
      </p:pic>
      <p:sp>
        <p:nvSpPr>
          <p:cNvPr id="11" name="Rounded Rectangle 10"/>
          <p:cNvSpPr/>
          <p:nvPr/>
        </p:nvSpPr>
        <p:spPr>
          <a:xfrm>
            <a:off x="9281160" y="3566160"/>
            <a:ext cx="2404872" cy="2926080"/>
          </a:xfrm>
          <a:prstGeom prst="roundRect">
            <a:avLst>
              <a:gd name="adj" fmla="val 2661"/>
            </a:avLst>
          </a:prstGeom>
          <a:solidFill>
            <a:srgbClr val="121C2F"/>
          </a:solidFill>
          <a:ln w="9525">
            <a:solidFill>
              <a:srgbClr val="2434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3749039"/>
            <a:ext cx="2103120" cy="2560320"/>
          </a:xfrm>
          <a:prstGeom prst="rect">
            <a:avLst/>
          </a:prstGeom>
          <a:noFill/>
        </p:spPr>
        <p:txBody>
          <a:bodyPr wrap="square" lIns="0" rIns="0" tIns="0" bIns="0" anchor="t">
            <a:spAutoFit/>
          </a:bodyPr>
          <a:lstStyle/>
          <a:p>
            <a:pPr algn="l" marL="171450" indent="-171450">
              <a:lnSpc>
                <a:spcPct val="106000"/>
              </a:lnSpc>
              <a:spcAft>
                <a:spcPts val="1000"/>
              </a:spcAft>
              <a:buFont typeface="Arial"/>
              <a:buChar char="•"/>
            </a:pPr>
            <a:r>
              <a:rPr sz="1050" b="0" i="0">
                <a:solidFill>
                  <a:srgbClr val="EAF1FA"/>
                </a:solidFill>
                <a:latin typeface="Arial"/>
              </a:rPr>
              <a:t>Top: OKS AP and PQ vs SNR — same monotonic pattern as detection and features.</a:t>
            </a:r>
          </a:p>
          <a:p>
            <a:pPr algn="l" marL="171450" indent="-171450">
              <a:lnSpc>
                <a:spcPct val="106000"/>
              </a:lnSpc>
              <a:spcAft>
                <a:spcPts val="1000"/>
              </a:spcAft>
              <a:buFont typeface="Arial"/>
              <a:buChar char="•"/>
            </a:pPr>
            <a:r>
              <a:rPr sz="1050" b="0" i="0">
                <a:solidFill>
                  <a:srgbClr val="EAF1FA"/>
                </a:solidFill>
                <a:latin typeface="Arial"/>
              </a:rPr>
              <a:t>Left: per-class detection AP under high Gaussian noise — 15 highest-clean-AP classes, same legend as slide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