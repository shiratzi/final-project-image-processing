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37"/>
    <p:sldId id="275" r:id="rId38"/>
    <p:sldId id="276" r:id="rId39"/>
    <p:sldId id="277" r:id="rId40"/>
    <p:sldId id="278" r:id="rId41"/>
    <p:sldId id="279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slide" Target="slides/slide19.xml"/><Relationship Id="rId38" Type="http://schemas.openxmlformats.org/officeDocument/2006/relationships/slide" Target="slides/slide20.xml"/><Relationship Id="rId39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2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459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243447"/>
                </a:solidFill>
              </a:rPr>
              <a:t>Final Project Report — Image Processing and Computer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310128"/>
            <a:ext cx="292608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5A6B7D"/>
                </a:solidFill>
              </a:rPr>
              <a:t>Evaluating robustness of vision algorithms under image distortion -- and how well they recover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A3A3A"/>
                </a:solidFill>
              </a:rPr>
              <a:t>Dataset: COCO val2017  |  4 Tasks  |  3 Distortions  |  3 Severities  |  2 Improvement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A3A3A"/>
                </a:solidFill>
              </a:rPr>
              <a:t>Team: Ohad Shpizhizen (oshpizhizen@nvidia.com)  |  Shira Tziony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3892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2A78D6"/>
                </a:solidFill>
              </a:rPr>
              <a:t>https://github.com/ShiraTzi/Final-Project-Image-Processing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A8794"/>
                </a:solidFill>
              </a:rPr>
              <a:t>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3447"/>
                </a:solidFill>
              </a:rPr>
              <a:t>Table of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237744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A3A3A"/>
                </a:solidFill>
              </a:rPr>
              <a:t>1.  Project Pipeline</a:t>
            </a:r>
          </a:p>
          <a:p>
            <a:r>
              <a:rPr sz="1600" b="0">
                <a:solidFill>
                  <a:srgbClr val="3A3A3A"/>
                </a:solidFill>
              </a:rPr>
              <a:t>2.  Dataset -- COCO val2017</a:t>
            </a:r>
          </a:p>
          <a:p>
            <a:r>
              <a:rPr sz="1600" b="0">
                <a:solidFill>
                  <a:srgbClr val="3A3A3A"/>
                </a:solidFill>
              </a:rPr>
              <a:t>3.  Selected Tasks (4 tasks across low-level and high-level vision)</a:t>
            </a:r>
          </a:p>
          <a:p>
            <a:r>
              <a:rPr sz="1600" b="0">
                <a:solidFill>
                  <a:srgbClr val="3A3A3A"/>
                </a:solidFill>
              </a:rPr>
              <a:t>4.  Selected Noises and Enhancement Methods</a:t>
            </a:r>
          </a:p>
          <a:p>
            <a:r>
              <a:rPr sz="1600" b="0">
                <a:solidFill>
                  <a:srgbClr val="3A3A3A"/>
                </a:solidFill>
              </a:rPr>
              <a:t>5.  Results</a:t>
            </a:r>
          </a:p>
          <a:p>
            <a:r>
              <a:rPr sz="1600" b="0">
                <a:solidFill>
                  <a:srgbClr val="3A3A3A"/>
                </a:solidFill>
              </a:rPr>
              <a:t>      Plot 1: Recovery share per distortion x severity x task</a:t>
            </a:r>
          </a:p>
          <a:p>
            <a:r>
              <a:rPr sz="1600" b="0">
                <a:solidFill>
                  <a:srgbClr val="3A3A3A"/>
                </a:solidFill>
              </a:rPr>
              <a:t>      Plot 2: Per-class AP -- Gaussian noise, high severity</a:t>
            </a:r>
          </a:p>
          <a:p>
            <a:r>
              <a:rPr sz="1600" b="0">
                <a:solidFill>
                  <a:srgbClr val="3A3A3A"/>
                </a:solidFill>
              </a:rPr>
              <a:t>      Plot 3: Task metric vs SNR curves (all four tasks)</a:t>
            </a:r>
          </a:p>
          <a:p>
            <a:r>
              <a:rPr sz="1600" b="0">
                <a:solidFill>
                  <a:srgbClr val="3A3A3A"/>
                </a:solidFill>
              </a:rPr>
              <a:t>      Clean baseline table  +  Plot 4: Per-class AP on clean images</a:t>
            </a:r>
          </a:p>
          <a:p>
            <a:r>
              <a:rPr sz="1600" b="0">
                <a:solidFill>
                  <a:srgbClr val="3A3A3A"/>
                </a:solidFill>
              </a:rPr>
              <a:t>      Plots 5-8: Predictions on images (all tasks, all distortions)</a:t>
            </a:r>
          </a:p>
          <a:p>
            <a:r>
              <a:rPr sz="1600" b="0">
                <a:solidFill>
                  <a:srgbClr val="3A3A3A"/>
                </a:solidFill>
              </a:rPr>
              <a:t>      Plots 9-11: Raw noise and enhancement examples</a:t>
            </a:r>
          </a:p>
          <a:p>
            <a:r>
              <a:rPr sz="1600" b="0">
                <a:solidFill>
                  <a:srgbClr val="3A3A3A"/>
                </a:solidFill>
              </a:rPr>
              <a:t>6.  Conclusions and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A8794"/>
                </a:solidFill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3447"/>
                </a:solidFill>
              </a:rPr>
              <a:t>Project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237744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A3A3A"/>
                </a:solidFill>
              </a:rPr>
              <a:t>Phase 0 -- Setup &amp; Data        Download COCO annotations + 1,521-image class-balanced val subset</a:t>
            </a:r>
          </a:p>
          <a:p>
            <a:r>
              <a:rPr sz="1500" b="0">
                <a:solidFill>
                  <a:srgbClr val="3A3A3A"/>
                </a:solidFill>
              </a:rPr>
              <a:t>Phase 1 -- Clean Baseline      Run all models on clean images; validate against published scores</a:t>
            </a:r>
          </a:p>
          <a:p>
            <a:r>
              <a:rPr sz="1500" b="0">
                <a:solidFill>
                  <a:srgbClr val="3A3A3A"/>
                </a:solidFill>
              </a:rPr>
              <a:t>Phase 2 -- Distortion          Apply 3 corruptions x 3 severities; log SNR + degradation params per image</a:t>
            </a:r>
          </a:p>
          <a:p>
            <a:r>
              <a:rPr sz="1500" b="0">
                <a:solidFill>
                  <a:srgbClr val="3A3A3A"/>
                </a:solidFill>
              </a:rPr>
              <a:t>Phase 3 -- Enhancement         Apply matched classical restorer per image (BM3D / median / Wiener)</a:t>
            </a:r>
          </a:p>
          <a:p>
            <a:r>
              <a:rPr sz="1500" b="0">
                <a:solidFill>
                  <a:srgbClr val="3A3A3A"/>
                </a:solidFill>
              </a:rPr>
              <a:t>Phase 4 -- Fine-tuning         Fine-tune YOLOv8n on 9,000-image clean + distorted + restored mixture</a:t>
            </a:r>
          </a:p>
          <a:p>
            <a:r>
              <a:rPr sz="1500" b="0">
                <a:solidFill>
                  <a:srgbClr val="3A3A3A"/>
                </a:solidFill>
              </a:rPr>
              <a:t>Phase 5 -- Report              Comparison tables, per-class AP bars, metric-vs-SNR curves, visual grids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348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6B7D"/>
                </a:solidFill>
              </a:rPr>
              <a:t>data --&gt; distort --&gt; enhance --+
  |          |          |      +--&gt; infer --&gt; eval --&gt; tables / figures
  +----------+----------+                    ^
                          finetune (YOLOv8) -+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A6B7D"/>
                </a:solidFill>
              </a:rPr>
              <a:t>Key design decision: degradation parameters (noise sigma / blur kernel) are logged per image at Phase 2, enabling non-blind (oracle) restoration at Phase 3 -- the core engineering choice of the benchmark.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A8794"/>
                </a:solidFill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3447"/>
                </a:solidFill>
              </a:rPr>
              <a:t>Dataset -- COCO val2017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237744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A3A3A"/>
                </a:solidFill>
              </a:rPr>
              <a:t>What is COCO?</a:t>
            </a:r>
          </a:p>
          <a:p>
            <a:r>
              <a:rPr sz="1500" b="0">
                <a:solidFill>
                  <a:srgbClr val="3A3A3A"/>
                </a:solidFill>
              </a:rPr>
              <a:t>  Common Objects in Context -- 200k+ images, 80 object categories, by Microsoft</a:t>
            </a:r>
          </a:p>
          <a:p>
            <a:r>
              <a:rPr sz="1500" b="0">
                <a:solidFill>
                  <a:srgbClr val="3A3A3A"/>
                </a:solidFill>
              </a:rPr>
              <a:t>  Single dataset covers all 4 tasks: bounding boxes + keypoints + panoptic masks on the same images</a:t>
            </a:r>
          </a:p>
          <a:p>
            <a:r>
              <a:rPr sz="1500" b="0">
                <a:solidFill>
                  <a:srgbClr val="3A3A3A"/>
                </a:solidFill>
              </a:rPr>
              <a:t>  Official COCOeval toolkit -&gt; metrics directly comparable to published results</a:t>
            </a:r>
          </a:p>
          <a:p>
            <a:r>
              <a:rPr sz="1500" b="0">
                <a:solidFill>
                  <a:srgbClr val="3A3A3A"/>
                </a:solidFill>
              </a:rPr>
              <a:t>  All chosen models are COCO-pretrained -&gt; baseline validation is straightforward</a:t>
            </a:r>
          </a:p>
          <a:p>
            <a:r>
              <a:rPr sz="1500" b="0">
                <a:solidFill>
                  <a:srgbClr val="3A3A3A"/>
                </a:solidFill>
              </a:rPr>
              <a:t/>
            </a:r>
          </a:p>
          <a:p>
            <a:r>
              <a:rPr sz="1500" b="1">
                <a:solidFill>
                  <a:srgbClr val="3A3A3A"/>
                </a:solidFill>
              </a:rPr>
              <a:t>Our Subset -- 1,521 images (single source of truth for every experiment)</a:t>
            </a:r>
          </a:p>
          <a:p>
            <a:r>
              <a:rPr sz="1500" b="0">
                <a:solidFill>
                  <a:srgbClr val="3A3A3A"/>
                </a:solidFill>
              </a:rPr>
              <a:t>  Seeded random sample + coverage top-up (every class &gt;= 20 GT instances)</a:t>
            </a:r>
          </a:p>
          <a:p>
            <a:r>
              <a:rPr sz="1500" b="0">
                <a:solidFill>
                  <a:srgbClr val="3A3A3A"/>
                </a:solidFill>
              </a:rPr>
              <a:t>  Class-proportion correlation with full val2017: r = 0.999  |  11,129 GT instances</a:t>
            </a:r>
          </a:p>
          <a:p>
            <a:r>
              <a:rPr sz="1500" b="0">
                <a:solidFill>
                  <a:srgbClr val="3A3A3A"/>
                </a:solidFill>
              </a:rPr>
              <a:t>  All comparisons are paired: identical images and GT across clean / distorted / enhanced</a:t>
            </a:r>
          </a:p>
          <a:p>
            <a:r>
              <a:rPr sz="1500" b="0">
                <a:solidFill>
                  <a:srgbClr val="3A3A3A"/>
                </a:solidFill>
              </a:rPr>
              <a:t>  Separate 9,000-image train2017 subset used only for fine-tuning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A8794"/>
                </a:solidFill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3447"/>
                </a:solidFill>
              </a:rPr>
              <a:t>Selected Tasks -- Low-level and High-level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237744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A3A3A"/>
                </a:solidFill>
              </a:rPr>
              <a:t>Task                    Level        Model / Algorithm               Library         Metric</a:t>
            </a:r>
          </a:p>
          <a:p>
            <a:r>
              <a:rPr sz="1400" b="0">
                <a:solidFill>
                  <a:srgbClr val="3A3A3A"/>
                </a:solidFill>
              </a:rPr>
              <a:t>--------------------------------------------------------------------------------------------</a:t>
            </a:r>
          </a:p>
          <a:p>
            <a:r>
              <a:rPr sz="1400" b="0">
                <a:solidFill>
                  <a:srgbClr val="3A3A3A"/>
                </a:solidFill>
              </a:rPr>
              <a:t>Feature matching        Low-level    ORB + BFMatcher (Hamming)      OpenCV          Match ratio vs clean</a:t>
            </a:r>
          </a:p>
          <a:p>
            <a:r>
              <a:rPr sz="1400" b="0">
                <a:solidFill>
                  <a:srgbClr val="3A3A3A"/>
                </a:solidFill>
              </a:rPr>
              <a:t>Object detection        High-level   YOLOv8n (COCO-pretrained)      ultralytics     mAP@[.5:.95]</a:t>
            </a:r>
          </a:p>
          <a:p>
            <a:r>
              <a:rPr sz="1400" b="0">
                <a:solidFill>
                  <a:srgbClr val="3A3A3A"/>
                </a:solidFill>
              </a:rPr>
              <a:t>Keypoint detection      High-level   Keypoint R-CNN ResNet50-FPN    torchvision     OKS AP</a:t>
            </a:r>
          </a:p>
          <a:p>
            <a:r>
              <a:rPr sz="1400" b="0">
                <a:solidFill>
                  <a:srgbClr val="3A3A3A"/>
                </a:solidFill>
              </a:rPr>
              <a:t>Panoptic segmentation   High-level   Panoptic FPN R50               detectron2      PQ = SQ x RQ</a:t>
            </a:r>
          </a:p>
          <a:p>
            <a:r>
              <a:rPr sz="1400" b="0">
                <a:solidFill>
                  <a:srgbClr val="3A3A3A"/>
                </a:solidFill>
              </a:rPr>
              <a:t/>
            </a:r>
          </a:p>
          <a:p>
            <a:r>
              <a:rPr sz="1400" b="0">
                <a:solidFill>
                  <a:srgbClr val="3A3A3A"/>
                </a:solidFill>
              </a:rPr>
              <a:t>  1 low-level task (ORB): tests raw signal integrity, no ground truth needed</a:t>
            </a:r>
          </a:p>
          <a:p>
            <a:r>
              <a:rPr sz="1400" b="0">
                <a:solidFill>
                  <a:srgbClr val="3A3A3A"/>
                </a:solidFill>
              </a:rPr>
              <a:t>  3 high-level tasks: coarse localization (bbox) -&gt; fine localization (joints) -&gt; pixel-level (panoptic)</a:t>
            </a:r>
          </a:p>
          <a:p>
            <a:r>
              <a:rPr sz="1400" b="0">
                <a:solidFill>
                  <a:srgbClr val="3A3A3A"/>
                </a:solidFill>
              </a:rPr>
              <a:t>  Together they reveal which aspect of the image each corruption damages most</a:t>
            </a:r>
          </a:p>
          <a:p>
            <a:r>
              <a:rPr sz="1400" b="0">
                <a:solidFill>
                  <a:srgbClr val="3A3A3A"/>
                </a:solidFill>
              </a:rPr>
              <a:t>  All metrics are in [0, 1]; higher is better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A8794"/>
                </a:solidFill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3447"/>
                </a:solidFill>
              </a:rPr>
              <a:t>Task 1 -- Feature Matching (ORB)  |  Low-level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237744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A3A3A"/>
                </a:solidFill>
              </a:rPr>
              <a:t>Algorithm: ORB -- Oriented FAST and Rotated BRIEF  (OpenCV)</a:t>
            </a:r>
          </a:p>
          <a:p>
            <a:r>
              <a:rPr sz="1400" b="0">
                <a:solidFill>
                  <a:srgbClr val="3A3A3A"/>
                </a:solidFill>
              </a:rPr>
              <a:t>  Detects corner-like keypoints with scale and orientation invariance</a:t>
            </a:r>
          </a:p>
          <a:p>
            <a:r>
              <a:rPr sz="1400" b="0">
                <a:solidFill>
                  <a:srgbClr val="3A3A3A"/>
                </a:solidFill>
              </a:rPr>
              <a:t>  Compact binary descriptors; matched with BFMatcher (Hamming distance, cross-check)</a:t>
            </a:r>
          </a:p>
          <a:p>
            <a:r>
              <a:rPr sz="1400" b="0">
                <a:solidFill>
                  <a:srgbClr val="3A3A3A"/>
                </a:solidFill>
              </a:rPr>
              <a:t/>
            </a:r>
          </a:p>
          <a:p>
            <a:r>
              <a:rPr sz="1400" b="1">
                <a:solidFill>
                  <a:srgbClr val="3A3A3A"/>
                </a:solidFill>
              </a:rPr>
              <a:t>Metric: Match ratio</a:t>
            </a:r>
          </a:p>
          <a:p>
            <a:r>
              <a:rPr sz="1400" b="0">
                <a:solidFill>
                  <a:srgbClr val="3A3A3A"/>
                </a:solidFill>
              </a:rPr>
              <a:t>  Good matches (Hamming &lt;= 64, cross-checked) / clean keypoints</a:t>
            </a:r>
          </a:p>
          <a:p>
            <a:r>
              <a:rPr sz="1400" b="0">
                <a:solidFill>
                  <a:srgbClr val="3A3A3A"/>
                </a:solidFill>
              </a:rPr>
              <a:t>  1.0 = every clean feature survives;  0 = local structure fully destroyed</a:t>
            </a:r>
          </a:p>
          <a:p>
            <a:r>
              <a:rPr sz="1400" b="0">
                <a:solidFill>
                  <a:srgbClr val="3A3A3A"/>
                </a:solidFill>
              </a:rPr>
              <a:t>  No ground truth needed -- the clean image itself is the reference</a:t>
            </a:r>
          </a:p>
          <a:p>
            <a:r>
              <a:rPr sz="1400" b="0">
                <a:solidFill>
                  <a:srgbClr val="3A3A3A"/>
                </a:solidFill>
              </a:rPr>
              <a:t>  Clean baseline: 1.000 (by construction)</a:t>
            </a:r>
          </a:p>
          <a:p>
            <a:r>
              <a:rPr sz="1400" b="0">
                <a:solidFill>
                  <a:srgbClr val="3A3A3A"/>
                </a:solidFill>
              </a:rPr>
              <a:t/>
            </a:r>
          </a:p>
          <a:p>
            <a:r>
              <a:rPr sz="1400" b="1">
                <a:solidFill>
                  <a:srgbClr val="3A3A3A"/>
                </a:solidFill>
              </a:rPr>
              <a:t>Why chosen:</a:t>
            </a:r>
          </a:p>
          <a:p>
            <a:r>
              <a:rPr sz="1400" b="0">
                <a:solidFill>
                  <a:srgbClr val="3A3A3A"/>
                </a:solidFill>
              </a:rPr>
              <a:t>  Sole low-level task: does the raw pixel signal preserve local geometric structure?</a:t>
            </a:r>
          </a:p>
          <a:p>
            <a:r>
              <a:rPr sz="1400" b="0">
                <a:solidFill>
                  <a:srgbClr val="3A3A3A"/>
                </a:solidFill>
              </a:rPr>
              <a:t>  Known sensitivity: degrades under noise, collapses under blur -&gt; strong contrast with high-level tasks</a:t>
            </a:r>
          </a:p>
          <a:p>
            <a:r>
              <a:rPr sz="1400" b="0">
                <a:solidFill>
                  <a:srgbClr val="3A3A3A"/>
                </a:solidFill>
              </a:rPr>
              <a:t>  Runs on CPU in seconds; complementary to the heavy GPU-based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A8794"/>
                </a:solidFill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3447"/>
                </a:solidFill>
              </a:rPr>
              <a:t>Task 2 -- Object Detection (YOLOv8n)  |  High-level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237744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A3A3A"/>
                </a:solidFill>
              </a:rPr>
              <a:t>Algorithm: YOLOv8n (nano) -- single-stage real-time detector  (ultralytics)</a:t>
            </a:r>
          </a:p>
          <a:p>
            <a:r>
              <a:rPr sz="1400" b="0">
                <a:solidFill>
                  <a:srgbClr val="3A3A3A"/>
                </a:solidFill>
              </a:rPr>
              <a:t>  COCO-pretrained on 80 classes; predicts bounding boxes + class labels in one pass</a:t>
            </a:r>
          </a:p>
          <a:p>
            <a:r>
              <a:rPr sz="1400" b="0">
                <a:solidFill>
                  <a:srgbClr val="3A3A3A"/>
                </a:solidFill>
              </a:rPr>
              <a:t/>
            </a:r>
          </a:p>
          <a:p>
            <a:r>
              <a:rPr sz="1400" b="1">
                <a:solidFill>
                  <a:srgbClr val="3A3A3A"/>
                </a:solidFill>
              </a:rPr>
              <a:t>Metric: mAP@[.5:.95]</a:t>
            </a:r>
          </a:p>
          <a:p>
            <a:r>
              <a:rPr sz="1400" b="0">
                <a:solidFill>
                  <a:srgbClr val="3A3A3A"/>
                </a:solidFill>
              </a:rPr>
              <a:t>  Average Precision averaged over 10 IoU thresholds (0.50 to 0.95) and all 80 classes</a:t>
            </a:r>
          </a:p>
          <a:p>
            <a:r>
              <a:rPr sz="1400" b="0">
                <a:solidFill>
                  <a:srgbClr val="3A3A3A"/>
                </a:solidFill>
              </a:rPr>
              <a:t>  Strict: rewards tight localization, not just detection -- reacts to corruption early</a:t>
            </a:r>
          </a:p>
          <a:p>
            <a:r>
              <a:rPr sz="1400" b="0">
                <a:solidFill>
                  <a:srgbClr val="3A3A3A"/>
                </a:solidFill>
              </a:rPr>
              <a:t>  Clean baseline: 0.352  (published full-val2017: ~0.373 -- validates our pipeline)</a:t>
            </a:r>
          </a:p>
          <a:p>
            <a:r>
              <a:rPr sz="1400" b="0">
                <a:solidFill>
                  <a:srgbClr val="3A3A3A"/>
                </a:solidFill>
              </a:rPr>
              <a:t/>
            </a:r>
          </a:p>
          <a:p>
            <a:r>
              <a:rPr sz="1400" b="1">
                <a:solidFill>
                  <a:srgbClr val="3A3A3A"/>
                </a:solidFill>
              </a:rPr>
              <a:t>Why chosen:</a:t>
            </a:r>
          </a:p>
          <a:p>
            <a:r>
              <a:rPr sz="1400" b="0">
                <a:solidFill>
                  <a:srgbClr val="3A3A3A"/>
                </a:solidFill>
              </a:rPr>
              <a:t>  Most canonical high-level robustness benchmark -- widely compared in literature</a:t>
            </a:r>
          </a:p>
          <a:p>
            <a:r>
              <a:rPr sz="1400" b="0">
                <a:solidFill>
                  <a:srgbClr val="3A3A3A"/>
                </a:solidFill>
              </a:rPr>
              <a:t>  Fast enough to run the full 1,521-image subset without prohibitive GPU time</a:t>
            </a:r>
          </a:p>
          <a:p>
            <a:r>
              <a:rPr sz="1400" b="0">
                <a:solidFill>
                  <a:srgbClr val="3A3A3A"/>
                </a:solidFill>
              </a:rPr>
              <a:t>  Only task for which we apply fine-tuning -&gt; focal point of enhancement vs fine-tuning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A8794"/>
                </a:solidFill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3447"/>
                </a:solidFill>
              </a:rPr>
              <a:t>Task 3 -- Keypoint Detection (Keypoint R-CNN)  |  High-level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237744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A3A3A"/>
                </a:solidFill>
              </a:rPr>
              <a:t>Algorithm: Keypoint R-CNN -- ResNet-50 + FPN, COCO-pretrained  (torchvision)</a:t>
            </a:r>
          </a:p>
          <a:p>
            <a:r>
              <a:rPr sz="1400" b="0">
                <a:solidFill>
                  <a:srgbClr val="3A3A3A"/>
                </a:solidFill>
              </a:rPr>
              <a:t>  Localizes 17 human body joints per detected person</a:t>
            </a:r>
          </a:p>
          <a:p>
            <a:r>
              <a:rPr sz="1400" b="0">
                <a:solidFill>
                  <a:srgbClr val="3A3A3A"/>
                </a:solidFill>
              </a:rPr>
              <a:t>  Joints: nose, eyes, ears, shoulders, elbows, wrists, hips, knees, ankles</a:t>
            </a:r>
          </a:p>
          <a:p>
            <a:r>
              <a:rPr sz="1400" b="0">
                <a:solidFill>
                  <a:srgbClr val="3A3A3A"/>
                </a:solidFill>
              </a:rPr>
              <a:t/>
            </a:r>
          </a:p>
          <a:p>
            <a:r>
              <a:rPr sz="1400" b="1">
                <a:solidFill>
                  <a:srgbClr val="3A3A3A"/>
                </a:solidFill>
              </a:rPr>
              <a:t>Metric: OKS AP</a:t>
            </a:r>
          </a:p>
          <a:p>
            <a:r>
              <a:rPr sz="1400" b="0">
                <a:solidFill>
                  <a:srgbClr val="3A3A3A"/>
                </a:solidFill>
              </a:rPr>
              <a:t>  Object Keypoint Similarity: scale-normalized Euclidean distance between predicted and GT joints</a:t>
            </a:r>
          </a:p>
          <a:p>
            <a:r>
              <a:rPr sz="1400" b="0">
                <a:solidFill>
                  <a:srgbClr val="3A3A3A"/>
                </a:solidFill>
              </a:rPr>
              <a:t>  AP machinery (same as detection) but box-IoU is replaced by OKS</a:t>
            </a:r>
          </a:p>
          <a:p>
            <a:r>
              <a:rPr sz="1400" b="0">
                <a:solidFill>
                  <a:srgbClr val="3A3A3A"/>
                </a:solidFill>
              </a:rPr>
              <a:t>  Person-only task -- isolates how corruption affects fine spatial localization</a:t>
            </a:r>
          </a:p>
          <a:p>
            <a:r>
              <a:rPr sz="1400" b="0">
                <a:solidFill>
                  <a:srgbClr val="3A3A3A"/>
                </a:solidFill>
              </a:rPr>
              <a:t>  Clean baseline: 0.657</a:t>
            </a:r>
          </a:p>
          <a:p>
            <a:r>
              <a:rPr sz="1400" b="0">
                <a:solidFill>
                  <a:srgbClr val="3A3A3A"/>
                </a:solidFill>
              </a:rPr>
              <a:t/>
            </a:r>
          </a:p>
          <a:p>
            <a:r>
              <a:rPr sz="1400" b="1">
                <a:solidFill>
                  <a:srgbClr val="3A3A3A"/>
                </a:solidFill>
              </a:rPr>
              <a:t>Why chosen:</a:t>
            </a:r>
          </a:p>
          <a:p>
            <a:r>
              <a:rPr sz="1400" b="0">
                <a:solidFill>
                  <a:srgbClr val="3A3A3A"/>
                </a:solidFill>
              </a:rPr>
              <a:t>  Pixel-accurate joint localization is fundamentally more sensitive than bounding-box detection</a:t>
            </a:r>
          </a:p>
          <a:p>
            <a:r>
              <a:rPr sz="1400" b="0">
                <a:solidFill>
                  <a:srgbClr val="3A3A3A"/>
                </a:solidFill>
              </a:rPr>
              <a:t>  Corruption that barely hurts detection can dramatically shift predicted joint positions</a:t>
            </a:r>
          </a:p>
          <a:p>
            <a:r>
              <a:rPr sz="1400" b="0">
                <a:solidFill>
                  <a:srgbClr val="3A3A3A"/>
                </a:solidFill>
              </a:rPr>
              <a:t>  The detection-vs-keypoints contrast is one of the most informative axes of the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A8794"/>
                </a:solidFill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3447"/>
                </a:solidFill>
              </a:rPr>
              <a:t>Task 4 -- Panoptic Segmentation (Panoptic FPN)  |  High-level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237744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A3A3A"/>
                </a:solidFill>
              </a:rPr>
              <a:t>Algorithm: Panoptic FPN -- ResNet-50 backbone, COCO-pretrained  (detectron2)</a:t>
            </a:r>
          </a:p>
          <a:p>
            <a:r>
              <a:rPr sz="1400" b="0">
                <a:solidFill>
                  <a:srgbClr val="3A3A3A"/>
                </a:solidFill>
              </a:rPr>
              <a:t>  Assigns every pixel a semantic class AND instance identity</a:t>
            </a:r>
          </a:p>
          <a:p>
            <a:r>
              <a:rPr sz="1400" b="0">
                <a:solidFill>
                  <a:srgbClr val="3A3A3A"/>
                </a:solidFill>
              </a:rPr>
              <a:t>  Handles 'things' (cars, people -- countable) AND 'stuff' (sky, road -- amorphous)</a:t>
            </a:r>
          </a:p>
          <a:p>
            <a:r>
              <a:rPr sz="1400" b="0">
                <a:solidFill>
                  <a:srgbClr val="3A3A3A"/>
                </a:solidFill>
              </a:rPr>
              <a:t>  Runs in a separate virtualenv (detectron2 requires different torch) via subprocess</a:t>
            </a:r>
          </a:p>
          <a:p>
            <a:r>
              <a:rPr sz="1400" b="0">
                <a:solidFill>
                  <a:srgbClr val="3A3A3A"/>
                </a:solidFill>
              </a:rPr>
              <a:t/>
            </a:r>
          </a:p>
          <a:p>
            <a:r>
              <a:rPr sz="1400" b="1">
                <a:solidFill>
                  <a:srgbClr val="3A3A3A"/>
                </a:solidFill>
              </a:rPr>
              <a:t>Metric: PQ = SQ x RQ</a:t>
            </a:r>
          </a:p>
          <a:p>
            <a:r>
              <a:rPr sz="1400" b="0">
                <a:solidFill>
                  <a:srgbClr val="3A3A3A"/>
                </a:solidFill>
              </a:rPr>
              <a:t>  RQ (Recognition Quality): F1 over correctly matched segments -- penalizes missed/false segments</a:t>
            </a:r>
          </a:p>
          <a:p>
            <a:r>
              <a:rPr sz="1400" b="0">
                <a:solidFill>
                  <a:srgbClr val="3A3A3A"/>
                </a:solidFill>
              </a:rPr>
              <a:t>  SQ (Segmentation Quality): mean IoU of matched segments -- penalizes sloppy masks</a:t>
            </a:r>
          </a:p>
          <a:p>
            <a:r>
              <a:rPr sz="1400" b="0">
                <a:solidFill>
                  <a:srgbClr val="3A3A3A"/>
                </a:solidFill>
              </a:rPr>
              <a:t>  PQ drops when segments are missed (RQ down) OR boundaries are imprecise (SQ down)</a:t>
            </a:r>
          </a:p>
          <a:p>
            <a:r>
              <a:rPr sz="1400" b="0">
                <a:solidFill>
                  <a:srgbClr val="3A3A3A"/>
                </a:solidFill>
              </a:rPr>
              <a:t>  Clean baseline: PQ 0.410  (SQ 0.775 / RQ 0.500;  things 0.475 / stuff 0.312)</a:t>
            </a:r>
          </a:p>
          <a:p>
            <a:r>
              <a:rPr sz="1400" b="0">
                <a:solidFill>
                  <a:srgbClr val="3A3A3A"/>
                </a:solidFill>
              </a:rPr>
              <a:t/>
            </a:r>
          </a:p>
          <a:p>
            <a:r>
              <a:rPr sz="1400" b="1">
                <a:solidFill>
                  <a:srgbClr val="3A3A3A"/>
                </a:solidFill>
              </a:rPr>
              <a:t>Why chosen:</a:t>
            </a:r>
          </a:p>
          <a:p>
            <a:r>
              <a:rPr sz="1400" b="0">
                <a:solidFill>
                  <a:srgbClr val="3A3A3A"/>
                </a:solidFill>
              </a:rPr>
              <a:t>  Most demanding pixel-level task; PQ decomposition provides built-in diagnostic for how corruption hurts</a:t>
            </a:r>
          </a:p>
          <a:p>
            <a:r>
              <a:rPr sz="1400" b="0">
                <a:solidFill>
                  <a:srgbClr val="3A3A3A"/>
                </a:solidFill>
              </a:rPr>
              <a:t>  This SQ/RQ diagnostic revealed the v2 NLM denoiser failure (see Conclusions)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A8794"/>
                </a:solidFill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3447"/>
                </a:solidFill>
              </a:rPr>
              <a:t>Selected Noises and Enhancement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237744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A3A3A"/>
                </a:solidFill>
              </a:rPr>
              <a:t>Gaussian Noise  (SNR ~19.5 / 13.9 / 10.0 dB)</a:t>
            </a:r>
          </a:p>
          <a:p>
            <a:r>
              <a:rPr sz="1300" b="0">
                <a:solidFill>
                  <a:srgbClr val="3A3A3A"/>
                </a:solidFill>
              </a:rPr>
              <a:t>  Model: Additive white Gaussian noise -- sensor / intensity noise; sigma sampled &amp; logged per image</a:t>
            </a:r>
          </a:p>
          <a:p>
            <a:r>
              <a:rPr sz="1300" b="0">
                <a:solidFill>
                  <a:srgbClr val="3A3A3A"/>
                </a:solidFill>
              </a:rPr>
              <a:t>  Enhancement: Non-blind BM3D fed the logged per-image sigma (strongest classical AWGN denoiser)</a:t>
            </a:r>
          </a:p>
          <a:p>
            <a:r>
              <a:rPr sz="1300" b="0">
                <a:solidFill>
                  <a:srgbClr val="3A3A3A"/>
                </a:solidFill>
              </a:rPr>
              <a:t>  Chosen: canonical noise model with closed-form matched inverse; textbook best case for restoration</a:t>
            </a:r>
          </a:p>
          <a:p>
            <a:r>
              <a:rPr sz="1300" b="0">
                <a:solidFill>
                  <a:srgbClr val="3A3A3A"/>
                </a:solidFill>
              </a:rPr>
              <a:t/>
            </a:r>
          </a:p>
          <a:p>
            <a:r>
              <a:rPr sz="1300" b="1">
                <a:solidFill>
                  <a:srgbClr val="3A3A3A"/>
                </a:solidFill>
              </a:rPr>
              <a:t>Salt-and-Pepper Noise  (SNR ~18.7 / 11.8 / 8.2 dB)</a:t>
            </a:r>
          </a:p>
          <a:p>
            <a:r>
              <a:rPr sz="1300" b="0">
                <a:solidFill>
                  <a:srgbClr val="3A3A3A"/>
                </a:solidFill>
              </a:rPr>
              <a:t>  Model: Random pixels set to 0 or 255; impulse fraction sampled &amp; logged per image</a:t>
            </a:r>
          </a:p>
          <a:p>
            <a:r>
              <a:rPr sz="1300" b="0">
                <a:solidFill>
                  <a:srgbClr val="3A3A3A"/>
                </a:solidFill>
              </a:rPr>
              <a:t>  Enhancement: Median filter (3x3) -- discards impulse outliers exactly; preserves edges</a:t>
            </a:r>
          </a:p>
          <a:p>
            <a:r>
              <a:rPr sz="1300" b="0">
                <a:solidFill>
                  <a:srgbClr val="3A3A3A"/>
                </a:solidFill>
              </a:rPr>
              <a:t>  Chosen: qualitatively different from AWGN; matched restoration is near-optimal -&gt; strong upper bound</a:t>
            </a:r>
          </a:p>
          <a:p>
            <a:r>
              <a:rPr sz="1300" b="0">
                <a:solidFill>
                  <a:srgbClr val="3A3A3A"/>
                </a:solidFill>
              </a:rPr>
              <a:t/>
            </a:r>
          </a:p>
          <a:p>
            <a:r>
              <a:rPr sz="1300" b="1">
                <a:solidFill>
                  <a:srgbClr val="3A3A3A"/>
                </a:solidFill>
              </a:rPr>
              <a:t>Motion Blur  (SNR ~20.8 / 17.7 / 15.6 dB)</a:t>
            </a:r>
          </a:p>
          <a:p>
            <a:r>
              <a:rPr sz="1300" b="0">
                <a:solidFill>
                  <a:srgbClr val="3A3A3A"/>
                </a:solidFill>
              </a:rPr>
              <a:t>  Model: Convolution with linear kernel; length and angle sampled &amp; logged per image</a:t>
            </a:r>
          </a:p>
          <a:p>
            <a:r>
              <a:rPr sz="1300" b="0">
                <a:solidFill>
                  <a:srgbClr val="3A3A3A"/>
                </a:solidFill>
              </a:rPr>
              <a:t>  Enhancement: Non-blind Wiener deconvolution with the logged kernel -- optimal linear inverse for known blur</a:t>
            </a:r>
          </a:p>
          <a:p>
            <a:r>
              <a:rPr sz="1300" b="0">
                <a:solidFill>
                  <a:srgbClr val="3A3A3A"/>
                </a:solidFill>
              </a:rPr>
              <a:t>  Chosen: destroys spatial structure (not just energy); most damaging for localization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A6B7D"/>
                </a:solidFill>
              </a:rPr>
              <a:t>Key: degradation params (sigma / impulse fraction / kernel) logged at corruption time -&gt; enables non-blind restoration -- the core engineering decision of the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A8794"/>
                </a:solidFill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243447"/>
                </a:solidFill>
              </a:rP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566160"/>
            <a:ext cx="484632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379476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A3A3A"/>
                </a:solidFill>
              </a:rPr>
              <a:t>Plot 1  -- Recovery per distortion x severity cell</a:t>
            </a:r>
          </a:p>
          <a:p>
            <a:r>
              <a:rPr sz="1500" b="0">
                <a:solidFill>
                  <a:srgbClr val="3A3A3A"/>
                </a:solidFill>
              </a:rPr>
              <a:t>Plot 2  -- Per-class AP: Gaussian noise high</a:t>
            </a:r>
          </a:p>
          <a:p>
            <a:r>
              <a:rPr sz="1500" b="0">
                <a:solidFill>
                  <a:srgbClr val="3A3A3A"/>
                </a:solidFill>
              </a:rPr>
              <a:t>Plot 3  -- Metric vs SNR (all four tasks)</a:t>
            </a:r>
          </a:p>
          <a:p>
            <a:r>
              <a:rPr sz="1500" b="0">
                <a:solidFill>
                  <a:srgbClr val="3A3A3A"/>
                </a:solidFill>
              </a:rPr>
              <a:t>Clean baseline table  +  Plot 4 -- Per-class AP on clean images</a:t>
            </a:r>
          </a:p>
          <a:p>
            <a:r>
              <a:rPr sz="1500" b="0">
                <a:solidFill>
                  <a:srgbClr val="3A3A3A"/>
                </a:solidFill>
              </a:rPr>
              <a:t>Plots 5-8  -- Predictions on images (all tasks x all distortions)</a:t>
            </a:r>
          </a:p>
          <a:p>
            <a:r>
              <a:rPr sz="1500" b="0">
                <a:solidFill>
                  <a:srgbClr val="3A3A3A"/>
                </a:solidFill>
              </a:rPr>
              <a:t>Plots 9-11  -- Raw noise and enhancement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A8794"/>
                </a:solidFill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3447"/>
                </a:solidFill>
              </a:rPr>
              <a:t>Plot 1 -- Recovery per Distortion x Severity Cell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237744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25880"/>
            <a:ext cx="1152144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825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A6B7D"/>
                </a:solidFill>
              </a:rPr>
              <a:t>Each panel = one task. Bar groups = distortion x severity. Blue = distorted; green = enhanced; amber = fine-tuned (detection only). Dashed = clean baseline. Labels show fraction of total damage recovered.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A8794"/>
                </a:solidFill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3447"/>
                </a:solidFill>
              </a:rPr>
              <a:t>Plots 2 &amp; 3 -- Per-Class AP and Metric vs SNR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237744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53312"/>
            <a:ext cx="5760720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5148072"/>
            <a:ext cx="576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A6B7D"/>
                </a:solidFill>
              </a:rPr>
              <a:t>Per-class AP -- gauss_noise / high.
Gray = clean; blue = distorted;
green = enhanced; amber = fine-tuned.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53312"/>
            <a:ext cx="5760720" cy="3794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5148072"/>
            <a:ext cx="576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A6B7D"/>
                </a:solidFill>
              </a:rPr>
              <a:t>Detection mAP vs SNR (dB). Blue = distorted;
green = enhanced; amber = fine-tuned.
Gray dashed = clean baseline. Lower SNR = higher severity.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A8794"/>
                </a:solidFill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3447"/>
                </a:solidFill>
              </a:rPr>
              <a:t>Clean Baselines (Phase 1) and Per-Class AP Distribution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237744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5577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A3A3A"/>
                </a:solidFill>
              </a:rPr>
              <a:t>Clean Baselines -- all models within ~0.02 of published full-val2017 scores</a:t>
            </a:r>
          </a:p>
          <a:p>
            <a:r>
              <a:rPr sz="1400" b="0">
                <a:solidFill>
                  <a:srgbClr val="3A3A3A"/>
                </a:solidFill>
              </a:rPr>
              <a:t>  Feature matching (ORB)              Match ratio     1.000  (by construction)</a:t>
            </a:r>
          </a:p>
          <a:p>
            <a:r>
              <a:rPr sz="1400" b="0">
                <a:solidFill>
                  <a:srgbClr val="3A3A3A"/>
                </a:solidFill>
              </a:rPr>
              <a:t>  Object detection (YOLOv8n)          mAP@[.5:.95]    0.352  (published ~0.373)</a:t>
            </a:r>
          </a:p>
          <a:p>
            <a:r>
              <a:rPr sz="1400" b="0">
                <a:solidFill>
                  <a:srgbClr val="3A3A3A"/>
                </a:solidFill>
              </a:rPr>
              <a:t>  Keypoint detection (Keypoint R-CNN)  OKS AP          0.657</a:t>
            </a:r>
          </a:p>
          <a:p>
            <a:r>
              <a:rPr sz="1400" b="0">
                <a:solidFill>
                  <a:srgbClr val="3A3A3A"/>
                </a:solidFill>
              </a:rPr>
              <a:t>  Panoptic segmentation (Panoptic FPN) PQ              0.410  (SQ 0.775 / RQ 0.500)</a:t>
            </a:r>
          </a:p>
          <a:p>
            <a:r>
              <a:rPr sz="1400" b="0">
                <a:solidFill>
                  <a:srgbClr val="3A3A3A"/>
                </a:solidFill>
              </a:rPr>
              <a:t/>
            </a:r>
          </a:p>
          <a:p>
            <a:r>
              <a:rPr sz="1400" b="0">
                <a:solidFill>
                  <a:srgbClr val="3A3A3A"/>
                </a:solidFill>
              </a:rPr>
              <a:t>This validates the measurement pipeline before any distortion is introduced.</a:t>
            </a:r>
          </a:p>
        </p:txBody>
      </p:sp>
      <p:pic>
        <p:nvPicPr>
          <p:cNvPr id="5" name="Picture 4" descr="per_class_ap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53312"/>
            <a:ext cx="585216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621792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A6B7D"/>
                </a:solidFill>
              </a:rPr>
              <a:t>Per-class YOLOv8n AP on clean images, sorted descending.
n= label = GT instance count per class. Dashed = mean 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A8794"/>
                </a:solidFill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3447"/>
                </a:solidFill>
              </a:rPr>
              <a:t>Plot 5 -- Visual Examples: Object Detection (YOLOv8n)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237744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A6B7D"/>
                </a:solidFill>
              </a:rPr>
              <a:t>Gray dashed = ground-truth bounding boxes  |  Colored = YOLO predictions + confidence  |  Columns: clean / distorted (high) / enhanced / fine-tuned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764792"/>
            <a:ext cx="11658600" cy="1508760"/>
          </a:xfrm>
          <a:prstGeom prst="rect">
            <a:avLst/>
          </a:prstGeom>
        </p:spPr>
      </p:pic>
      <p:pic>
        <p:nvPicPr>
          <p:cNvPr id="6" name="Picture 5" descr="annotated_salt_pep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319272"/>
            <a:ext cx="11658600" cy="1508760"/>
          </a:xfrm>
          <a:prstGeom prst="rect">
            <a:avLst/>
          </a:prstGeom>
        </p:spPr>
      </p:pic>
      <p:pic>
        <p:nvPicPr>
          <p:cNvPr id="7" name="Picture 6" descr="annotated_motion_bl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873752"/>
            <a:ext cx="11658600" cy="1508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A8794"/>
                </a:solidFill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3447"/>
                </a:solidFill>
              </a:rPr>
              <a:t>Plot 6 -- Visual Examples: Keypoint Detection (Keypoint R-CNN)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237744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A6B7D"/>
                </a:solidFill>
              </a:rPr>
              <a:t>Gray dashed = GT skeleton from COCO keypoints annotation  |  White skeleton + yellow joints = predictions at score &gt;= 0.35  |  Columns: clean / distorted (high) / enhanced</a:t>
            </a:r>
          </a:p>
        </p:txBody>
      </p:sp>
      <p:pic>
        <p:nvPicPr>
          <p:cNvPr id="5" name="Picture 4" descr="keypoints_gauss_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764792"/>
            <a:ext cx="11658600" cy="1508760"/>
          </a:xfrm>
          <a:prstGeom prst="rect">
            <a:avLst/>
          </a:prstGeom>
        </p:spPr>
      </p:pic>
      <p:pic>
        <p:nvPicPr>
          <p:cNvPr id="6" name="Picture 5" descr="keypoints_salt_pep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319272"/>
            <a:ext cx="11658600" cy="1508760"/>
          </a:xfrm>
          <a:prstGeom prst="rect">
            <a:avLst/>
          </a:prstGeom>
        </p:spPr>
      </p:pic>
      <p:pic>
        <p:nvPicPr>
          <p:cNvPr id="7" name="Picture 6" descr="keypoints_motion_bl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873752"/>
            <a:ext cx="11658600" cy="1508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A8794"/>
                </a:solidFill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3447"/>
                </a:solidFill>
              </a:rPr>
              <a:t>Plot 7 -- Visual Examples: Panoptic Segmentation (Panoptic FPN)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237744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A6B7D"/>
                </a:solidFill>
              </a:rPr>
              <a:t>Color = semantic category (consistent palette)  |  White hairlines = segment boundaries  |  Column header = cell PQ  |  Columns: GT / clean / distorted (high) / enhanced</a:t>
            </a:r>
          </a:p>
        </p:txBody>
      </p:sp>
      <p:pic>
        <p:nvPicPr>
          <p:cNvPr id="5" name="Picture 4" descr="panoptic_gauss_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764792"/>
            <a:ext cx="11658600" cy="1508760"/>
          </a:xfrm>
          <a:prstGeom prst="rect">
            <a:avLst/>
          </a:prstGeom>
        </p:spPr>
      </p:pic>
      <p:pic>
        <p:nvPicPr>
          <p:cNvPr id="6" name="Picture 5" descr="panoptic_salt_pep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319272"/>
            <a:ext cx="11658600" cy="1508760"/>
          </a:xfrm>
          <a:prstGeom prst="rect">
            <a:avLst/>
          </a:prstGeom>
        </p:spPr>
      </p:pic>
      <p:pic>
        <p:nvPicPr>
          <p:cNvPr id="7" name="Picture 6" descr="panoptic_motion_bl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873752"/>
            <a:ext cx="11658600" cy="1508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A8794"/>
                </a:solidFill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3447"/>
                </a:solidFill>
              </a:rPr>
              <a:t>Plot 8 -- Visual Examples: ORB Feature Matching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237744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5331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A6B7D"/>
                </a:solidFill>
              </a:rPr>
              <a:t>Clean image (left) matched against distorted or enhanced (right)  |  Lines = good matches (Hamming &lt;= 64)  |  Caption = per-image match ratio (good matches / clean keypoints)</a:t>
            </a:r>
          </a:p>
        </p:txBody>
      </p:sp>
      <p:pic>
        <p:nvPicPr>
          <p:cNvPr id="5" name="Picture 4" descr="orb_matches_gauss_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764792"/>
            <a:ext cx="11658600" cy="1508760"/>
          </a:xfrm>
          <a:prstGeom prst="rect">
            <a:avLst/>
          </a:prstGeom>
        </p:spPr>
      </p:pic>
      <p:pic>
        <p:nvPicPr>
          <p:cNvPr id="6" name="Picture 5" descr="orb_matches_salt_pep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319272"/>
            <a:ext cx="11658600" cy="1508760"/>
          </a:xfrm>
          <a:prstGeom prst="rect">
            <a:avLst/>
          </a:prstGeom>
        </p:spPr>
      </p:pic>
      <p:pic>
        <p:nvPicPr>
          <p:cNvPr id="7" name="Picture 6" descr="orb_matches_motion_bl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873752"/>
            <a:ext cx="11658600" cy="1508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A8794"/>
                </a:solidFill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3447"/>
                </a:solidFill>
              </a:rPr>
              <a:t>Plot 9 -- Raw Examples: Gaussian Noise (High Severity)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237744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53312"/>
            <a:ext cx="1152144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825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A6B7D"/>
                </a:solidFill>
              </a:rPr>
              <a:t>Images different from those shown in Plots 5-8  |  Columns: clean / distorted / enhanced  |  BM3D removes heavy grain while preserving edges and texture detail.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A8794"/>
                </a:solidFill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3447"/>
                </a:solidFill>
              </a:rPr>
              <a:t>Plot 10 -- Raw Examples: Salt-and-Pepper Noise (High Severity)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237744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id_salt_pep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53312"/>
            <a:ext cx="1152144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825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A6B7D"/>
                </a:solidFill>
              </a:rPr>
              <a:t>Images different from those shown in Plots 5-8  |  Columns: clean / distorted / enhanced  |  Median filter fully removes impulse pixels; clean-looking restoration visible at pixel level.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A8794"/>
                </a:solidFill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3447"/>
                </a:solidFill>
              </a:rPr>
              <a:t>Plot 11 -- Raw Examples: Motion Blur (High Severity)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237744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id_motion_bl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53312"/>
            <a:ext cx="1152144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3825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A6B7D"/>
                </a:solidFill>
              </a:rPr>
              <a:t>Images different from those shown in Plots 5-8  |  Columns: clean / distorted / enhanced  |  Non-blind Wiener deconvolution (logged kernel) visibly re-sharpens edges smeared by motion blur.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A8794"/>
                </a:solidFill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3447"/>
                </a:solidFill>
              </a:rPr>
              <a:t>Discussion -- Why Enhancement Outperforms Fine-tuning (7 of 9 cells)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237744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A3A3A"/>
                </a:solidFill>
              </a:rPr>
              <a:t>Four structural reasons:</a:t>
            </a:r>
          </a:p>
          <a:p>
            <a:r>
              <a:rPr sz="1300" b="0">
                <a:solidFill>
                  <a:srgbClr val="3A3A3A"/>
                </a:solidFill>
              </a:rPr>
              <a:t>1.  Oracle knowledge: restorer gets exact per-image degradation params; fine-tuned model gets nothing</a:t>
            </a:r>
          </a:p>
          <a:p>
            <a:r>
              <a:rPr sz="1300" b="0">
                <a:solidFill>
                  <a:srgbClr val="3A3A3A"/>
                </a:solidFill>
              </a:rPr>
              <a:t>     Evidence: blind kernel guess for motion blur scored WORSE than no restoration at all</a:t>
            </a:r>
          </a:p>
          <a:p>
            <a:r>
              <a:rPr sz="1300" b="0">
                <a:solidFill>
                  <a:srgbClr val="3A3A3A"/>
                </a:solidFill>
              </a:rPr>
              <a:t>2.  Distribution shift: enhancement pushes inputs back to the pretrained model's clean-image home</a:t>
            </a:r>
          </a:p>
          <a:p>
            <a:r>
              <a:rPr sz="1300" b="0">
                <a:solidFill>
                  <a:srgbClr val="3A3A3A"/>
                </a:solidFill>
              </a:rPr>
              <a:t>     Fine-tuning shifts weights away using only 9,000 images -- pays measured -0.042 clean-mAP cost</a:t>
            </a:r>
          </a:p>
          <a:p>
            <a:r>
              <a:rPr sz="1300" b="0">
                <a:solidFill>
                  <a:srgbClr val="3A3A3A"/>
                </a:solidFill>
              </a:rPr>
              <a:t>3.  Textbook best case: synthetic, uniform, closed-form noise models -- exactly what classical restoration is designed for</a:t>
            </a:r>
          </a:p>
          <a:p>
            <a:r>
              <a:rPr sz="1300" b="0">
                <a:solidFill>
                  <a:srgbClr val="3A3A3A"/>
                </a:solidFill>
              </a:rPr>
              <a:t>     Real-world corruptions (mixed, spatially-varying, unknown) would close this gap</a:t>
            </a:r>
          </a:p>
          <a:p>
            <a:r>
              <a:rPr sz="1300" b="0">
                <a:solidFill>
                  <a:srgbClr val="3A3A3A"/>
                </a:solidFill>
              </a:rPr>
              <a:t>4.  Model-agnostic: same enhanced images lift all 4 tasks; fine-tuning only targeted detection</a:t>
            </a:r>
          </a:p>
          <a:p>
            <a:r>
              <a:rPr sz="1300" b="0">
                <a:solidFill>
                  <a:srgbClr val="3A3A3A"/>
                </a:solidFill>
              </a:rPr>
              <a:t/>
            </a:r>
          </a:p>
          <a:p>
            <a:r>
              <a:rPr sz="1300" b="1">
                <a:solidFill>
                  <a:srgbClr val="3A3A3A"/>
                </a:solidFill>
              </a:rPr>
              <a:t>Fine-tuning still earns its place:</a:t>
            </a:r>
          </a:p>
          <a:p>
            <a:r>
              <a:rPr sz="1300" b="0">
                <a:solidFill>
                  <a:srgbClr val="3A3A3A"/>
                </a:solidFill>
              </a:rPr>
              <a:t>  Unknown corruption: fine-tuned model is safe (never more than -0.012 below baseline; up to +0.124 in-domain)</a:t>
            </a:r>
          </a:p>
          <a:p>
            <a:r>
              <a:rPr sz="1300" b="0">
                <a:solidFill>
                  <a:srgbClr val="3A3A3A"/>
                </a:solidFill>
              </a:rPr>
              <a:t>  Partially irreversible damage: heavy motion blur zeroes frequency bands no filter restores</a:t>
            </a:r>
          </a:p>
          <a:p>
            <a:r>
              <a:rPr sz="1300" b="0">
                <a:solidFill>
                  <a:srgbClr val="3A3A3A"/>
                </a:solidFill>
              </a:rPr>
              <a:t>     Stack wins: motion_blur med/high combined recovery 45% vs 25% (enhance) vs 18% (fine-tune) 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A8794"/>
                </a:solidFill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3447"/>
                </a:solidFill>
              </a:rPr>
              <a:t>Discussion -- Additional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237744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A3A3A"/>
                </a:solidFill>
              </a:rPr>
              <a:t>SNR predicts degradation direction -- but not damage magnitude across corruptions</a:t>
            </a:r>
          </a:p>
          <a:p>
            <a:r>
              <a:rPr sz="1300" b="0">
                <a:solidFill>
                  <a:srgbClr val="3A3A3A"/>
                </a:solidFill>
              </a:rPr>
              <a:t>  Motion blur (SNR ~15.6 dB high) is more destructive for ORB (-0.80) and keypoints (-0.50)</a:t>
            </a:r>
          </a:p>
          <a:p>
            <a:r>
              <a:rPr sz="1300" b="0">
                <a:solidFill>
                  <a:srgbClr val="3A3A3A"/>
                </a:solidFill>
              </a:rPr>
              <a:t>  than Gaussian noise at med (SNR ~13.9 dB) -- spatial structure loss != pixel-wise energy</a:t>
            </a:r>
          </a:p>
          <a:p>
            <a:r>
              <a:rPr sz="1300" b="0">
                <a:solidFill>
                  <a:srgbClr val="3A3A3A"/>
                </a:solidFill>
              </a:rPr>
              <a:t/>
            </a:r>
          </a:p>
          <a:p>
            <a:r>
              <a:rPr sz="1300" b="1">
                <a:solidFill>
                  <a:srgbClr val="3A3A3A"/>
                </a:solidFill>
              </a:rPr>
              <a:t>v2 NLM failure -- the filter, not the concept</a:t>
            </a:r>
          </a:p>
          <a:p>
            <a:r>
              <a:rPr sz="1300" b="0">
                <a:solidFill>
                  <a:srgbClr val="3A3A3A"/>
                </a:solidFill>
              </a:rPr>
              <a:t>  Sigma-adaptive NLM scored BELOW raw noisy images on every pixel-precise task</a:t>
            </a:r>
          </a:p>
          <a:p>
            <a:r>
              <a:rPr sz="1300" b="0">
                <a:solidFill>
                  <a:srgbClr val="3A3A3A"/>
                </a:solidFill>
              </a:rPr>
              <a:t>  Diagnosis: blotchy residual noise + texture loss -&gt; small objects disappeared; PQ RQ collapsed</a:t>
            </a:r>
          </a:p>
          <a:p>
            <a:r>
              <a:rPr sz="1300" b="0">
                <a:solidFill>
                  <a:srgbClr val="3A3A3A"/>
                </a:solidFill>
              </a:rPr>
              <a:t>  BM3D (collaborative patch filtering) flipped all 12 Gaussian-noise cells positive</a:t>
            </a:r>
          </a:p>
          <a:p>
            <a:r>
              <a:rPr sz="1300" b="0">
                <a:solidFill>
                  <a:srgbClr val="3A3A3A"/>
                </a:solidFill>
              </a:rPr>
              <a:t>  Archived negative result now delimits which filter to deploy, not whether to use classical restoration</a:t>
            </a:r>
          </a:p>
          <a:p>
            <a:r>
              <a:rPr sz="1300" b="0">
                <a:solidFill>
                  <a:srgbClr val="3A3A3A"/>
                </a:solidFill>
              </a:rPr>
              <a:t/>
            </a:r>
          </a:p>
          <a:p>
            <a:r>
              <a:rPr sz="1300" b="1">
                <a:solidFill>
                  <a:srgbClr val="3A3A3A"/>
                </a:solidFill>
              </a:rPr>
              <a:t>Fine-tuning mixture design -- each ingredient fixed a measured failure</a:t>
            </a:r>
          </a:p>
          <a:p>
            <a:r>
              <a:rPr sz="1300" b="0">
                <a:solidFill>
                  <a:srgbClr val="3A3A3A"/>
                </a:solidFill>
              </a:rPr>
              <a:t>  v1 (single cell): textbook negative transfer -- lost to baseline on 5/9 cells</a:t>
            </a:r>
          </a:p>
          <a:p>
            <a:r>
              <a:rPr sz="1300" b="0">
                <a:solidFill>
                  <a:srgbClr val="3A3A3A"/>
                </a:solidFill>
              </a:rPr>
              <a:t>  v2 (10% clean, no restored images): -0.068 clean mAP + domain mismatch on enhanced val images</a:t>
            </a:r>
          </a:p>
          <a:p>
            <a:r>
              <a:rPr sz="1300" b="0">
                <a:solidFill>
                  <a:srgbClr val="3A3A3A"/>
                </a:solidFill>
              </a:rPr>
              <a:t>  v3 (25% clean + restored picks): -0.042 clean mAP; domain mismatch resolved; stack additive on all 9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A8794"/>
                </a:solidFill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43447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237744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A3A3A"/>
                </a:solidFill>
              </a:rPr>
              <a:t>  Image distortion inflicts substantial but largely recoverable damage on modern vision systems</a:t>
            </a:r>
          </a:p>
          <a:p>
            <a:r>
              <a:rPr sz="1500" b="0">
                <a:solidFill>
                  <a:srgbClr val="3A3A3A"/>
                </a:solidFill>
              </a:rPr>
              <a:t>  -- provided the restoration strategy matches the degradation model</a:t>
            </a:r>
          </a:p>
          <a:p>
            <a:r>
              <a:rPr sz="1500" b="0">
                <a:solidFill>
                  <a:srgbClr val="3A3A3A"/>
                </a:solidFill>
              </a:rPr>
              <a:t/>
            </a:r>
          </a:p>
          <a:p>
            <a:r>
              <a:rPr sz="1500" b="0">
                <a:solidFill>
                  <a:srgbClr val="3A3A3A"/>
                </a:solidFill>
              </a:rPr>
              <a:t>  Classical enhancement with oracle knowledge of corruption parameters is the strongest single repair</a:t>
            </a:r>
          </a:p>
          <a:p>
            <a:r>
              <a:rPr sz="1500" b="0">
                <a:solidFill>
                  <a:srgbClr val="3A3A3A"/>
                </a:solidFill>
              </a:rPr>
              <a:t>  on 7 of 9 cells and across all four tasks</a:t>
            </a:r>
          </a:p>
          <a:p>
            <a:r>
              <a:rPr sz="1500" b="0">
                <a:solidFill>
                  <a:srgbClr val="3A3A3A"/>
                </a:solidFill>
              </a:rPr>
              <a:t/>
            </a:r>
          </a:p>
          <a:p>
            <a:r>
              <a:rPr sz="1500" b="0">
                <a:solidFill>
                  <a:srgbClr val="3A3A3A"/>
                </a:solidFill>
              </a:rPr>
              <a:t>  Fine-tuning on a carefully designed mixture is the robust fallback for unknown or irreversible corruptions;</a:t>
            </a:r>
          </a:p>
          <a:p>
            <a:r>
              <a:rPr sz="1500" b="0">
                <a:solidFill>
                  <a:srgbClr val="3A3A3A"/>
                </a:solidFill>
              </a:rPr>
              <a:t>  stacking both repairs is additive once training includes restored images</a:t>
            </a:r>
          </a:p>
          <a:p>
            <a:r>
              <a:rPr sz="1500" b="0">
                <a:solidFill>
                  <a:srgbClr val="3A3A3A"/>
                </a:solidFill>
              </a:rPr>
              <a:t/>
            </a:r>
          </a:p>
          <a:p>
            <a:r>
              <a:rPr sz="1500" b="0">
                <a:solidFill>
                  <a:srgbClr val="3A3A3A"/>
                </a:solidFill>
              </a:rPr>
              <a:t>  PQ -&gt; SQ/RQ decomposition and size-stratified AP provided the diagnostic power to locate</a:t>
            </a:r>
          </a:p>
          <a:p>
            <a:r>
              <a:rPr sz="1500" b="0">
                <a:solidFill>
                  <a:srgbClr val="3A3A3A"/>
                </a:solidFill>
              </a:rPr>
              <a:t>  and fix a denoiser that actively hurt the system -- turning a negative result into a design principle</a:t>
            </a:r>
          </a:p>
          <a:p>
            <a:r>
              <a:rPr sz="1500" b="0">
                <a:solidFill>
                  <a:srgbClr val="3A3A3A"/>
                </a:solidFill>
              </a:rPr>
              <a:t/>
            </a:r>
          </a:p>
          <a:p>
            <a:r>
              <a:rPr sz="1500" b="1">
                <a:solidFill>
                  <a:srgbClr val="3A3A3A"/>
                </a:solidFill>
              </a:rPr>
              <a:t>Know your corruption -&gt; choose your weapon.</a:t>
            </a:r>
          </a:p>
          <a:p>
            <a:r>
              <a:rPr sz="1500" b="0">
                <a:solidFill>
                  <a:srgbClr val="3A3A3A"/>
                </a:solidFill>
              </a:rPr>
              <a:t>  When the forward model is known and invertible: image space is the cheaper and stronger battlefield.</a:t>
            </a:r>
          </a:p>
          <a:p>
            <a:r>
              <a:rPr sz="1500" b="0">
                <a:solidFill>
                  <a:srgbClr val="3A3A3A"/>
                </a:solidFill>
              </a:rPr>
              <a:t>  When it is not: model robustness is your safety 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A78D6"/>
                </a:solidFill>
              </a:rPr>
              <a:t>GitHub: https://github.com/ShiraTzi/Final-Project-Image-Processing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7A8794"/>
                </a:solidFill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